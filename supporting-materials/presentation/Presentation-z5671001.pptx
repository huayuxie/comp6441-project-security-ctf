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88adc0aee694e25" /><Relationship Type="http://schemas.openxmlformats.org/officeDocument/2006/relationships/extended-properties" Target="/docProps/app.xml" Id="R7fa0082faf3a43df" /><Relationship Type="http://schemas.openxmlformats.org/officeDocument/2006/relationships/officeDocument" Target="/ppt/presentation.xml" Id="Ra890cfb6304c4f72" /></Relationships>
</file>

<file path=ppt/presentation.xml><?xml version="1.0" encoding="utf-8"?>
<p:presentation xmlns:p="http://schemas.openxmlformats.org/presentationml/2006/main">
  <p:sldMasterIdLst>
    <p:sldMasterId xmlns:r="http://schemas.openxmlformats.org/officeDocument/2006/relationships" id="2147483648" r:id="Rddeb0917f14c4d3e"/>
  </p:sldMasterIdLst>
  <p:notesMasterIdLst>
    <p:notesMasterId xmlns:r="http://schemas.openxmlformats.org/officeDocument/2006/relationships" r:id="Rb5d05591176d42df"/>
  </p:notesMasterIdLst>
  <p:sldIdLst>
    <p:sldId xmlns:r="http://schemas.openxmlformats.org/officeDocument/2006/relationships" id="256" r:id="Ra9ab8d55644c4a5b"/>
    <p:sldId xmlns:r="http://schemas.openxmlformats.org/officeDocument/2006/relationships" id="257" r:id="Rd9aa2a7e7109444f"/>
    <p:sldId xmlns:r="http://schemas.openxmlformats.org/officeDocument/2006/relationships" id="258" r:id="Rb70a6e2c84144dda"/>
    <p:sldId xmlns:r="http://schemas.openxmlformats.org/officeDocument/2006/relationships" id="259" r:id="R94926b88028c4c9a"/>
    <p:sldId xmlns:r="http://schemas.openxmlformats.org/officeDocument/2006/relationships" id="260" r:id="Raf3cbeed002e4838"/>
    <p:sldId xmlns:r="http://schemas.openxmlformats.org/officeDocument/2006/relationships" id="261" r:id="R3ac3cafcb2f54766"/>
    <p:sldId xmlns:r="http://schemas.openxmlformats.org/officeDocument/2006/relationships" id="262" r:id="R2480e50bea134693"/>
    <p:sldId xmlns:r="http://schemas.openxmlformats.org/officeDocument/2006/relationships" id="263" r:id="R8033eadfeffe464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d7d36ceba164fd8" /><Relationship Type="http://schemas.openxmlformats.org/officeDocument/2006/relationships/slideMaster" Target="/ppt/slideMasters/slideMaster1.xml" Id="Rddeb0917f14c4d3e" /><Relationship Type="http://schemas.openxmlformats.org/officeDocument/2006/relationships/notesMaster" Target="/ppt/notesMasters/notesMaster1.xml" Id="Rb5d05591176d42df" /><Relationship Type="http://schemas.openxmlformats.org/officeDocument/2006/relationships/presProps" Target="/ppt/presProps.xml" Id="Rf4220dc613f94934" /><Relationship Type="http://schemas.openxmlformats.org/officeDocument/2006/relationships/tableStyles" Target="/ppt/tableStyles.xml" Id="Rb6f17d78f2b94f26" /><Relationship Type="http://schemas.openxmlformats.org/officeDocument/2006/relationships/slide" Target="/ppt/slides/slide1.xml" Id="Ra9ab8d55644c4a5b" /><Relationship Type="http://schemas.openxmlformats.org/officeDocument/2006/relationships/slide" Target="/ppt/slides/slide2.xml" Id="Rd9aa2a7e7109444f" /><Relationship Type="http://schemas.openxmlformats.org/officeDocument/2006/relationships/slide" Target="/ppt/slides/slide3.xml" Id="Rb70a6e2c84144dda" /><Relationship Type="http://schemas.openxmlformats.org/officeDocument/2006/relationships/slide" Target="/ppt/slides/slide4.xml" Id="R94926b88028c4c9a" /><Relationship Type="http://schemas.openxmlformats.org/officeDocument/2006/relationships/slide" Target="/ppt/slides/slide5.xml" Id="Raf3cbeed002e4838" /><Relationship Type="http://schemas.openxmlformats.org/officeDocument/2006/relationships/slide" Target="/ppt/slides/slide6.xml" Id="R3ac3cafcb2f54766" /><Relationship Type="http://schemas.openxmlformats.org/officeDocument/2006/relationships/slide" Target="/ppt/slides/slide7.xml" Id="R2480e50bea134693" /><Relationship Type="http://schemas.openxmlformats.org/officeDocument/2006/relationships/slide" Target="/ppt/slides/slide8.xml" Id="R8033eadfeffe46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4349d0d9c84a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OMP6441 Theme">
  <a:themeElements>
    <a:clrScheme name="COMP6441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OMP6441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e807f179704331" /><Relationship Type="http://schemas.openxmlformats.org/officeDocument/2006/relationships/notesMaster" Target="/ppt/notesMasters/notesMaster1.xml" Id="Re15601fd588a4d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b3752669d2473b" /><Relationship Type="http://schemas.openxmlformats.org/officeDocument/2006/relationships/notesMaster" Target="/ppt/notesMasters/notesMaster1.xml" Id="Rf1c12d3302d14a1d"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10976d4e2048a4" /><Relationship Type="http://schemas.openxmlformats.org/officeDocument/2006/relationships/notesMaster" Target="/ppt/notesMasters/notesMaster1.xml" Id="R7ed715bc100b4bc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15843f1ac54ac5" /><Relationship Type="http://schemas.openxmlformats.org/officeDocument/2006/relationships/notesMaster" Target="/ppt/notesMasters/notesMaster1.xml" Id="R944f39c44d1e4e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b7098ab5684bf9" /><Relationship Type="http://schemas.openxmlformats.org/officeDocument/2006/relationships/notesMaster" Target="/ppt/notesMasters/notesMaster1.xml" Id="R5042f03b42c643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a19882339c74748" /><Relationship Type="http://schemas.openxmlformats.org/officeDocument/2006/relationships/notesMaster" Target="/ppt/notesMasters/notesMaster1.xml" Id="Rf986095908454c6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9e35b6a23445f5" /><Relationship Type="http://schemas.openxmlformats.org/officeDocument/2006/relationships/notesMaster" Target="/ppt/notesMasters/notesMaster1.xml" Id="Rdd52fae698bc4f9c"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20aad612b34645" /><Relationship Type="http://schemas.openxmlformats.org/officeDocument/2006/relationships/notesMaster" Target="/ppt/notesMasters/notesMaster1.xml" Id="Recf7543cf9c645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project is a local beginner-friendly web security CTF lab. I built four intentionally vulnerable challenges and matched every one with a secure comparison. I will show the project goal, the challenge sequence, two attack examples, the matching defences, and how testing improved the final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goal was to turn common web weaknesses into a safe learning sequence. Learners first attempt a vulnerability, reveal an artificial flag, and then compare the same input with a safer implementation. Everything runs locally on 127.0.0.1 with demonstration data. This keeps the work educational and lets the project explain both attacker behaviour and defensive design without targeting an external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lab contains four challenges with one common theme: user-controlled input is trusted in the wrong context. The cookie task trusts client-side role state. Reflected XSS lets a search value become executable output. Path traversal lets a filename escape the intended directory. SQL injection lets login data alter query logic. Each challenge includes progressive hints, completion tracking, a flag, and an unlocked secure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screenshot shows the intended reflected XSS path. The application reads a search query and deliberately marks it as safe, so the browser interprets the payload as HTML and JavaScript instead of plain text. The artificial flag confirms that the exploit path was reached. The security lesson is the trust boundary: attacker-controlled text crossed directly into an executable browser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SQL injection task demonstrates the same trust problem in a different context. The vulnerable login builds a query by concatenating strings, so this payload changes the WHERE clause and bypasses authentication. The lab then reveals an artificial flag. Cookie manipulation and path traversal use different inputs, but all three failures come from allowing user-controlled data to cross a sensitive boundary without the correct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secure pages use a control matched to each context. Cookie authorisation moves to a signed session identity and a backend role lookup. XSS uses output encoding and a restrictive Content Security Policy. File access uses an allowlist and a fixed base directory. SQL injection uses placeholders and parameter binding. Direct secure URLs also return HTTP 403 until the matching challenge is completed, so the learning sequence is enforced on the server.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changed through evidence. The first build established four working exploit paths, flags, and two-level hints. Two beginner testing sessions showed that the cookie task needed clearer save-and-refresh instructions and that learners wanted visible progress and defence feedback. Final validation then found that the secure XSS policy blocked the original inline CSS. I moved the stylesheet to a same-origin file, updated the policy, added automated assertions, and reran all eleven tests successfully. This improved both usability and 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result is a complete local learning lab rather than a production web application. Its main outcome is the controlled comparison between exploit behaviour and secure design. The project strengthened my understanding of trust boundaries, context-specific controls, user testing, and validation. Its limitations are deliberate local-demo choices, including intentionally vulnerable routes and simple demonstration credentials. I am ready to answer questions about the implementation or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b1d16a178448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6c76a07c01e4611" /><Relationship Type="http://schemas.openxmlformats.org/officeDocument/2006/relationships/slideLayout" Target="/ppt/slideLayouts/slideLayout1.xml" Id="R86bbfadb39a346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bbfadb39a346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OMP6441 Theme">
  <a:themeElements>
    <a:clrScheme name="COMP6441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OMP6441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832d20ecf3c47df" /><Relationship Type="http://schemas.openxmlformats.org/officeDocument/2006/relationships/notesSlide" Target="/ppt/notesSlides/notesSlide1.xml" Id="R506a84c1b86848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2c6802f59014d85" /><Relationship Type="http://schemas.openxmlformats.org/officeDocument/2006/relationships/notesSlide" Target="/ppt/notesSlides/notesSlide2.xml" Id="R4ed6b4ff74b84a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232b9b210be4489" /><Relationship Type="http://schemas.openxmlformats.org/officeDocument/2006/relationships/notesSlide" Target="/ppt/notesSlides/notesSlide3.xml" Id="Re34a2fa9499348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2c891124edf40f9" /><Relationship Type="http://schemas.openxmlformats.org/officeDocument/2006/relationships/image" Target="/ppt/media/image.jpeg" Id="Rb2fe78d87c9e4ff7" /><Relationship Type="http://schemas.openxmlformats.org/officeDocument/2006/relationships/notesSlide" Target="/ppt/notesSlides/notesSlide4.xml" Id="Rb5555cff30514d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bd692446a38436f" /><Relationship Type="http://schemas.openxmlformats.org/officeDocument/2006/relationships/image" Target="/ppt/media/image2.jpeg" Id="Rc265c08ec4354b22" /><Relationship Type="http://schemas.openxmlformats.org/officeDocument/2006/relationships/notesSlide" Target="/ppt/notesSlides/notesSlide5.xml" Id="R8eca1a2ac36c47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41779576faa4e46" /><Relationship Type="http://schemas.openxmlformats.org/officeDocument/2006/relationships/notesSlide" Target="/ppt/notesSlides/notesSlide6.xml" Id="R90dc3b43ff3d4c1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3035604858d4867" /><Relationship Type="http://schemas.openxmlformats.org/officeDocument/2006/relationships/notesSlide" Target="/ppt/notesSlides/notesSlide7.xml" Id="R1c68024df9d0420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c6128dfd17f43e4" /><Relationship Type="http://schemas.openxmlformats.org/officeDocument/2006/relationships/notesSlide" Target="/ppt/notesSlides/notesSlide8.xml" Id="Ra0acc834aef64a0c" /></Relationships>
</file>

<file path=ppt/slides/slide1.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2C2900F-2565-4FBF-BA8F-BA6504C9D397}"/>
              </a:ext>
            </a:extLst>
          </p:cNvPr>
          <p:cNvSpPr>
            <a:spLocks xmlns:a="http://schemas.openxmlformats.org/drawingml/2006/main" noGrp="1"/>
          </p:cNvSpPr>
          <p:nvPr/>
        </p:nvSpPr>
        <p:spPr>
          <a:xfrm xmlns:a="http://schemas.openxmlformats.org/drawingml/2006/main">
            <a:off x="400050" y="400050"/>
            <a:ext cx="3810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1" i="0">
                <a:solidFill>
                  <a:srgbClr val="9A461C"/>
                </a:solidFill>
                <a:latin typeface="Aptos"/>
                <a:ea typeface="Aptos"/>
                <a:cs typeface="Aptos"/>
              </a:defRPr>
            </a:pPr>
            <a:r>
              <a:rPr sz="1650" b="1" i="0">
                <a:solidFill>
                  <a:srgbClr val="9A461C"/>
                </a:solidFill>
                <a:latin typeface="Aptos"/>
                <a:ea typeface="Aptos"/>
                <a:cs typeface="Aptos"/>
              </a:rPr>
              <a:t>COMP6441 PROJECT</a:t>
            </a:r>
          </a:p>
        </p:txBody>
      </p:sp>
      <p:sp>
        <p:nvSpPr>
          <p:cNvPr id="2" name="">
            <a:extLst xmlns:a="http://schemas.openxmlformats.org/drawingml/2006/main">
              <a:ext uri="{FF2B5EF4-FFF2-40B4-BE49-F238E27FC236}">
                <a16:creationId xmlns:a16="http://schemas.microsoft.com/office/drawing/2014/main" id="{113FF30F-F8E8-429A-A6AA-9A2BE9460B69}"/>
              </a:ext>
            </a:extLst>
          </p:cNvPr>
          <p:cNvSpPr>
            <a:spLocks xmlns:a="http://schemas.openxmlformats.org/drawingml/2006/main" noGrp="1"/>
          </p:cNvSpPr>
          <p:nvPr/>
        </p:nvSpPr>
        <p:spPr>
          <a:xfrm xmlns:a="http://schemas.openxmlformats.org/drawingml/2006/main">
            <a:off x="400050" y="1981200"/>
            <a:ext cx="9525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buNone/>
              <a:defRPr sz="5550" b="1" i="0">
                <a:solidFill>
                  <a:srgbClr val="19362D"/>
                </a:solidFill>
                <a:latin typeface="Aptos"/>
                <a:ea typeface="Aptos"/>
                <a:cs typeface="Aptos"/>
              </a:defRPr>
            </a:pPr>
            <a:r>
              <a:rPr sz="5550" b="1" i="0">
                <a:solidFill>
                  <a:srgbClr val="19362D"/>
                </a:solidFill>
                <a:latin typeface="Aptos"/>
                <a:ea typeface="Aptos"/>
                <a:cs typeface="Aptos"/>
              </a:rPr>
              <a:t>Beginner Web Security</a:t>
            </a:r>
          </a:p>
          <a:p xmlns:a="http://schemas.openxmlformats.org/drawingml/2006/main">
            <a:pPr algn="l">
              <a:buNone/>
              <a:defRPr sz="5550" b="1" i="0">
                <a:solidFill>
                  <a:srgbClr val="19362D"/>
                </a:solidFill>
                <a:latin typeface="Aptos"/>
                <a:ea typeface="Aptos"/>
                <a:cs typeface="Aptos"/>
              </a:defRPr>
            </a:pPr>
            <a:r>
              <a:rPr sz="5550" b="1" i="0">
                <a:solidFill>
                  <a:srgbClr val="19362D"/>
                </a:solidFill>
                <a:latin typeface="Aptos"/>
                <a:ea typeface="Aptos"/>
                <a:cs typeface="Aptos"/>
              </a:rPr>
              <a:t>CTF Lab</a:t>
            </a:r>
          </a:p>
        </p:txBody>
      </p:sp>
      <p:sp>
        <p:nvSpPr>
          <p:cNvPr id="3" name="">
            <a:extLst xmlns:a="http://schemas.openxmlformats.org/drawingml/2006/main">
              <a:ext uri="{FF2B5EF4-FFF2-40B4-BE49-F238E27FC236}">
                <a16:creationId xmlns:a16="http://schemas.microsoft.com/office/drawing/2014/main" id="{44D57E53-AB58-4C5C-B0C9-34AFE5FE7EEE}"/>
              </a:ext>
            </a:extLst>
          </p:cNvPr>
          <p:cNvSpPr>
            <a:spLocks xmlns:a="http://schemas.openxmlformats.org/drawingml/2006/main" noGrp="1"/>
          </p:cNvSpPr>
          <p:nvPr/>
        </p:nvSpPr>
        <p:spPr>
          <a:xfrm xmlns:a="http://schemas.openxmlformats.org/drawingml/2006/main">
            <a:off x="400050" y="4857750"/>
            <a:ext cx="685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0" i="0">
                <a:solidFill>
                  <a:srgbClr val="202824"/>
                </a:solidFill>
                <a:latin typeface="Aptos"/>
                <a:ea typeface="Aptos"/>
                <a:cs typeface="Aptos"/>
              </a:defRPr>
            </a:pPr>
            <a:r>
              <a:rPr sz="2100" b="0" i="0">
                <a:solidFill>
                  <a:srgbClr val="202824"/>
                </a:solidFill>
                <a:latin typeface="Aptos"/>
                <a:ea typeface="Aptos"/>
                <a:cs typeface="Aptos"/>
              </a:rPr>
              <a:t>Four attack paths. Four secure comparisons.</a:t>
            </a:r>
          </a:p>
          <a:p xmlns:a="http://schemas.openxmlformats.org/drawingml/2006/main">
            <a:pPr algn="l">
              <a:buNone/>
              <a:defRPr sz="2100" b="0" i="0">
                <a:solidFill>
                  <a:srgbClr val="202824"/>
                </a:solidFill>
                <a:latin typeface="Aptos"/>
                <a:ea typeface="Aptos"/>
                <a:cs typeface="Aptos"/>
              </a:defRPr>
            </a:pPr>
            <a:r>
              <a:rPr sz="2100" b="0" i="0">
                <a:solidFill>
                  <a:srgbClr val="202824"/>
                </a:solidFill>
                <a:latin typeface="Aptos"/>
                <a:ea typeface="Aptos"/>
                <a:cs typeface="Aptos"/>
              </a:rPr>
              <a:t>[CONFIRM STUDENT NAME]  •  z5671001</a:t>
            </a:r>
          </a:p>
        </p:txBody>
      </p:sp>
      <p:sp>
        <p:nvSpPr>
          <p:cNvPr id="4" name="">
            <a:extLst xmlns:a="http://schemas.openxmlformats.org/drawingml/2006/main">
              <a:ext uri="{FF2B5EF4-FFF2-40B4-BE49-F238E27FC236}">
                <a16:creationId xmlns:a16="http://schemas.microsoft.com/office/drawing/2014/main" id="{A92DC4C7-B3C2-4215-B332-B4D024BA259C}"/>
              </a:ext>
            </a:extLst>
          </p:cNvPr>
          <p:cNvSpPr>
            <a:spLocks xmlns:a="http://schemas.openxmlformats.org/drawingml/2006/main" noGrp="1"/>
          </p:cNvSpPr>
          <p:nvPr/>
        </p:nvSpPr>
        <p:spPr>
          <a:xfrm xmlns:a="http://schemas.openxmlformats.org/drawingml/2006/main">
            <a:off x="10477500" y="533400"/>
            <a:ext cx="1104900" cy="1104900"/>
          </a:xfrm>
          <a:prstGeom xmlns:a="http://schemas.openxmlformats.org/drawingml/2006/main" prst="ellipse">
            <a:avLst/>
          </a:prstGeom>
          <a:solidFill xmlns:a="http://schemas.openxmlformats.org/drawingml/2006/main">
            <a:srgbClr val="19362D"/>
          </a:solidFill>
          <a:ln xmlns:a="http://schemas.openxmlformats.org/drawingml/2006/main" w="0">
            <a:solidFill>
              <a:srgbClr val="19362D"/>
            </a:solidFill>
            <a:prstDash val="solid"/>
          </a:ln>
        </p:spPr>
      </p:sp>
      <p:sp>
        <p:nvSpPr>
          <p:cNvPr id="5" name="">
            <a:extLst xmlns:a="http://schemas.openxmlformats.org/drawingml/2006/main">
              <a:ext uri="{FF2B5EF4-FFF2-40B4-BE49-F238E27FC236}">
                <a16:creationId xmlns:a16="http://schemas.microsoft.com/office/drawing/2014/main" id="{24C0A4A4-63B8-407E-9171-74303F6CD095}"/>
              </a:ext>
            </a:extLst>
          </p:cNvPr>
          <p:cNvSpPr>
            <a:spLocks xmlns:a="http://schemas.openxmlformats.org/drawingml/2006/main" noGrp="1"/>
          </p:cNvSpPr>
          <p:nvPr/>
        </p:nvSpPr>
        <p:spPr>
          <a:xfrm xmlns:a="http://schemas.openxmlformats.org/drawingml/2006/main">
            <a:off x="10477500" y="733425"/>
            <a:ext cx="11049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181"/>
          </a:bodyPr>
          <a:lstStyle xmlns:a="http://schemas.openxmlformats.org/drawingml/2006/main"/>
          <a:p xmlns:a="http://schemas.openxmlformats.org/drawingml/2006/main">
            <a:pPr algn="ctr">
              <a:buNone/>
              <a:defRPr sz="3600" b="1" i="0">
                <a:solidFill>
                  <a:srgbClr val="F7F4EA"/>
                </a:solidFill>
                <a:latin typeface="Aptos"/>
                <a:ea typeface="Aptos"/>
                <a:cs typeface="Aptos"/>
              </a:defRPr>
            </a:pPr>
            <a:r>
              <a:rPr sz="3600" b="1" i="0">
                <a:solidFill>
                  <a:srgbClr val="F7F4EA"/>
                </a:solidFill>
                <a:latin typeface="Aptos"/>
                <a:ea typeface="Aptos"/>
                <a:cs typeface="Aptos"/>
              </a:rPr>
              <a:t>4</a:t>
            </a:r>
          </a:p>
        </p:txBody>
      </p:sp>
      <p:sp>
        <p:nvSpPr>
          <p:cNvPr id="6" name="">
            <a:extLst xmlns:a="http://schemas.openxmlformats.org/drawingml/2006/main">
              <a:ext uri="{FF2B5EF4-FFF2-40B4-BE49-F238E27FC236}">
                <a16:creationId xmlns:a16="http://schemas.microsoft.com/office/drawing/2014/main" id="{FECACF5C-4288-4825-97C2-30C27F6BC183}"/>
              </a:ext>
            </a:extLst>
          </p:cNvPr>
          <p:cNvSpPr>
            <a:spLocks xmlns:a="http://schemas.openxmlformats.org/drawingml/2006/main" noGrp="1"/>
          </p:cNvSpPr>
          <p:nvPr/>
        </p:nvSpPr>
        <p:spPr>
          <a:xfrm xmlns:a="http://schemas.openxmlformats.org/drawingml/2006/main">
            <a:off x="10096500" y="1743075"/>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125" b="1" i="0">
                <a:solidFill>
                  <a:srgbClr val="19362D"/>
                </a:solidFill>
                <a:latin typeface="Aptos"/>
                <a:ea typeface="Aptos"/>
                <a:cs typeface="Aptos"/>
              </a:defRPr>
            </a:pPr>
            <a:r>
              <a:rPr sz="1125" b="1" i="0">
                <a:solidFill>
                  <a:srgbClr val="19362D"/>
                </a:solidFill>
                <a:latin typeface="Aptos"/>
                <a:ea typeface="Aptos"/>
                <a:cs typeface="Aptos"/>
              </a:rPr>
              <a:t>CHALLENGES</a:t>
            </a:r>
          </a:p>
        </p:txBody>
      </p:sp>
    </p:spTree>
    <p:extLst>
      <p:ext uri="{BB962C8B-B14F-4D97-AF65-F5344CB8AC3E}">
        <p14:creationId xmlns:p14="http://schemas.microsoft.com/office/powerpoint/2010/main" val="783984937"/>
      </p:ext>
    </p:extLst>
  </p:cSld>
</p:sld>
</file>

<file path=ppt/slides/slide2.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10DF786-1811-4EFD-8491-A6A4BBFBAC99}"/>
              </a:ext>
            </a:extLst>
          </p:cNvPr>
          <p:cNvSpPr>
            <a:spLocks xmlns:a="http://schemas.openxmlformats.org/drawingml/2006/main" noGrp="1"/>
          </p:cNvSpPr>
          <p:nvPr/>
        </p:nvSpPr>
        <p:spPr>
          <a:xfrm xmlns:a="http://schemas.openxmlformats.org/drawingml/2006/main">
            <a:off x="400050" y="3238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i="0">
                <a:solidFill>
                  <a:srgbClr val="19362D"/>
                </a:solidFill>
                <a:latin typeface="Aptos"/>
                <a:ea typeface="Aptos"/>
                <a:cs typeface="Aptos"/>
              </a:defRPr>
            </a:pPr>
            <a:r>
              <a:rPr sz="2925" b="1" i="0">
                <a:solidFill>
                  <a:srgbClr val="19362D"/>
                </a:solidFill>
                <a:latin typeface="Aptos"/>
                <a:ea typeface="Aptos"/>
                <a:cs typeface="Aptos"/>
              </a:rPr>
              <a:t>A safe lab for learning trust boundaries</a:t>
            </a:r>
          </a:p>
        </p:txBody>
      </p:sp>
      <p:sp>
        <p:nvSpPr>
          <p:cNvPr id="2" name="">
            <a:extLst xmlns:a="http://schemas.openxmlformats.org/drawingml/2006/main">
              <a:ext uri="{FF2B5EF4-FFF2-40B4-BE49-F238E27FC236}">
                <a16:creationId xmlns:a16="http://schemas.microsoft.com/office/drawing/2014/main" id="{5739F204-9EF9-45C0-A31A-374BEB697592}"/>
              </a:ext>
            </a:extLst>
          </p:cNvPr>
          <p:cNvSpPr>
            <a:spLocks xmlns:a="http://schemas.openxmlformats.org/drawingml/2006/main" noGrp="1"/>
          </p:cNvSpPr>
          <p:nvPr/>
        </p:nvSpPr>
        <p:spPr>
          <a:xfrm xmlns:a="http://schemas.openxmlformats.org/drawingml/2006/main">
            <a:off x="400050" y="1066800"/>
            <a:ext cx="876300" cy="47625"/>
          </a:xfrm>
          <a:prstGeom xmlns:a="http://schemas.openxmlformats.org/drawingml/2006/main" prst="rect">
            <a:avLst/>
          </a:prstGeom>
          <a:solidFill xmlns:a="http://schemas.openxmlformats.org/drawingml/2006/main">
            <a:srgbClr val="9A461C"/>
          </a:solidFill>
          <a:ln xmlns:a="http://schemas.openxmlformats.org/drawingml/2006/main" w="0">
            <a:solidFill>
              <a:srgbClr val="9A461C"/>
            </a:solidFill>
            <a:prstDash val="solid"/>
          </a:ln>
        </p:spPr>
      </p:sp>
      <p:sp>
        <p:nvSpPr>
          <p:cNvPr id="3" name="">
            <a:extLst xmlns:a="http://schemas.openxmlformats.org/drawingml/2006/main">
              <a:ext uri="{FF2B5EF4-FFF2-40B4-BE49-F238E27FC236}">
                <a16:creationId xmlns:a16="http://schemas.microsoft.com/office/drawing/2014/main" id="{D3D1AF19-A2A6-40BC-911F-04B8D95DF9D2}"/>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r">
              <a:buNone/>
              <a:defRPr sz="975" b="0" i="0">
                <a:solidFill>
                  <a:srgbClr val="6A716D"/>
                </a:solidFill>
                <a:latin typeface="Aptos"/>
                <a:ea typeface="Aptos"/>
                <a:cs typeface="Aptos"/>
              </a:defRPr>
            </a:pPr>
            <a:r>
              <a:rPr sz="975" b="0" i="0">
                <a:solidFill>
                  <a:srgbClr val="6A716D"/>
                </a:solidFill>
                <a:latin typeface="Aptos"/>
                <a:ea typeface="Aptos"/>
                <a:cs typeface="Aptos"/>
              </a:rPr>
              <a:t>02</a:t>
            </a:r>
          </a:p>
        </p:txBody>
      </p:sp>
      <p:sp>
        <p:nvSpPr>
          <p:cNvPr id="4" name="">
            <a:extLst xmlns:a="http://schemas.openxmlformats.org/drawingml/2006/main">
              <a:ext uri="{FF2B5EF4-FFF2-40B4-BE49-F238E27FC236}">
                <a16:creationId xmlns:a16="http://schemas.microsoft.com/office/drawing/2014/main" id="{E0C29421-4855-48A6-B49A-7FFDB4BCDBFC}"/>
              </a:ext>
            </a:extLst>
          </p:cNvPr>
          <p:cNvSpPr>
            <a:spLocks xmlns:a="http://schemas.openxmlformats.org/drawingml/2006/main" noGrp="1"/>
          </p:cNvSpPr>
          <p:nvPr/>
        </p:nvSpPr>
        <p:spPr>
          <a:xfrm xmlns:a="http://schemas.openxmlformats.org/drawingml/2006/main">
            <a:off x="400050" y="1466850"/>
            <a:ext cx="3562350" cy="4343400"/>
          </a:xfrm>
          <a:prstGeom xmlns:a="http://schemas.openxmlformats.org/drawingml/2006/main" prst="roundRect">
            <a:avLst>
              <a:gd name="adj" fmla="val 4278"/>
            </a:avLst>
          </a:prstGeom>
          <a:solidFill xmlns:a="http://schemas.openxmlformats.org/drawingml/2006/main">
            <a:srgbClr val="FFFFFF"/>
          </a:solidFill>
          <a:ln xmlns:a="http://schemas.openxmlformats.org/drawingml/2006/main" w="9525">
            <a:solidFill>
              <a:srgbClr val="D8D3C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F3A2DC8E-54A3-4160-8650-090B6B9403A1}"/>
              </a:ext>
            </a:extLst>
          </p:cNvPr>
          <p:cNvSpPr>
            <a:spLocks xmlns:a="http://schemas.openxmlformats.org/drawingml/2006/main" noGrp="1"/>
          </p:cNvSpPr>
          <p:nvPr/>
        </p:nvSpPr>
        <p:spPr>
          <a:xfrm xmlns:a="http://schemas.openxmlformats.org/drawingml/2006/main">
            <a:off x="400050" y="1466850"/>
            <a:ext cx="3562350" cy="76200"/>
          </a:xfrm>
          <a:prstGeom xmlns:a="http://schemas.openxmlformats.org/drawingml/2006/main" prst="rect">
            <a:avLst/>
          </a:prstGeom>
          <a:solidFill xmlns:a="http://schemas.openxmlformats.org/drawingml/2006/main">
            <a:srgbClr val="9A461C"/>
          </a:solidFill>
          <a:ln xmlns:a="http://schemas.openxmlformats.org/drawingml/2006/main" w="0">
            <a:solidFill>
              <a:srgbClr val="9A461C"/>
            </a:solidFill>
            <a:prstDash val="solid"/>
          </a:ln>
        </p:spPr>
      </p:sp>
      <p:sp>
        <p:nvSpPr>
          <p:cNvPr id="6" name="">
            <a:extLst xmlns:a="http://schemas.openxmlformats.org/drawingml/2006/main">
              <a:ext uri="{FF2B5EF4-FFF2-40B4-BE49-F238E27FC236}">
                <a16:creationId xmlns:a16="http://schemas.microsoft.com/office/drawing/2014/main" id="{19347E0A-C5C0-4BE1-AF2D-A26AEB8DDED5}"/>
              </a:ext>
            </a:extLst>
          </p:cNvPr>
          <p:cNvSpPr>
            <a:spLocks xmlns:a="http://schemas.openxmlformats.org/drawingml/2006/main" noGrp="1"/>
          </p:cNvSpPr>
          <p:nvPr/>
        </p:nvSpPr>
        <p:spPr>
          <a:xfrm xmlns:a="http://schemas.openxmlformats.org/drawingml/2006/main">
            <a:off x="647700" y="1752600"/>
            <a:ext cx="3067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1" i="0">
                <a:solidFill>
                  <a:srgbClr val="9A461C"/>
                </a:solidFill>
                <a:latin typeface="Aptos"/>
                <a:ea typeface="Aptos"/>
                <a:cs typeface="Aptos"/>
              </a:defRPr>
            </a:pPr>
            <a:r>
              <a:rPr sz="1800" b="1" i="0">
                <a:solidFill>
                  <a:srgbClr val="9A461C"/>
                </a:solidFill>
                <a:latin typeface="Aptos"/>
                <a:ea typeface="Aptos"/>
                <a:cs typeface="Aptos"/>
              </a:rPr>
              <a:t>GOAL</a:t>
            </a:r>
          </a:p>
        </p:txBody>
      </p:sp>
      <p:sp>
        <p:nvSpPr>
          <p:cNvPr id="7" name="">
            <a:extLst xmlns:a="http://schemas.openxmlformats.org/drawingml/2006/main">
              <a:ext uri="{FF2B5EF4-FFF2-40B4-BE49-F238E27FC236}">
                <a16:creationId xmlns:a16="http://schemas.microsoft.com/office/drawing/2014/main" id="{F52D11F0-6FD4-4FC7-96C9-34FFDC1B11AA}"/>
              </a:ext>
            </a:extLst>
          </p:cNvPr>
          <p:cNvSpPr>
            <a:spLocks xmlns:a="http://schemas.openxmlformats.org/drawingml/2006/main" noGrp="1"/>
          </p:cNvSpPr>
          <p:nvPr/>
        </p:nvSpPr>
        <p:spPr>
          <a:xfrm xmlns:a="http://schemas.openxmlformats.org/drawingml/2006/main">
            <a:off x="647700" y="2362200"/>
            <a:ext cx="3067050" cy="3219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Build four beginner-friendly web security challenges.</a:t>
            </a:r>
          </a:p>
          <a:p xmlns:a="http://schemas.openxmlformats.org/drawingml/2006/main">
            <a:r>
              <a:t/>
            </a:r>
          </a:p>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Pair every exploit with a secure comparison.</a:t>
            </a:r>
          </a:p>
          <a:p xmlns:a="http://schemas.openxmlformats.org/drawingml/2006/main">
            <a:r>
              <a:t/>
            </a:r>
          </a:p>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Outcome: a complete local teaching lab.</a:t>
            </a:r>
          </a:p>
        </p:txBody>
      </p:sp>
      <p:sp>
        <p:nvSpPr>
          <p:cNvPr id="8" name="">
            <a:extLst xmlns:a="http://schemas.openxmlformats.org/drawingml/2006/main">
              <a:ext uri="{FF2B5EF4-FFF2-40B4-BE49-F238E27FC236}">
                <a16:creationId xmlns:a16="http://schemas.microsoft.com/office/drawing/2014/main" id="{73C1B7A2-30D5-4A17-903A-D55602E7EDE3}"/>
              </a:ext>
            </a:extLst>
          </p:cNvPr>
          <p:cNvSpPr>
            <a:spLocks xmlns:a="http://schemas.openxmlformats.org/drawingml/2006/main" noGrp="1"/>
          </p:cNvSpPr>
          <p:nvPr/>
        </p:nvSpPr>
        <p:spPr>
          <a:xfrm xmlns:a="http://schemas.openxmlformats.org/drawingml/2006/main">
            <a:off x="4314825" y="1466850"/>
            <a:ext cx="3562350" cy="4343400"/>
          </a:xfrm>
          <a:prstGeom xmlns:a="http://schemas.openxmlformats.org/drawingml/2006/main" prst="roundRect">
            <a:avLst>
              <a:gd name="adj" fmla="val 4278"/>
            </a:avLst>
          </a:prstGeom>
          <a:solidFill xmlns:a="http://schemas.openxmlformats.org/drawingml/2006/main">
            <a:srgbClr val="FFFFFF"/>
          </a:solidFill>
          <a:ln xmlns:a="http://schemas.openxmlformats.org/drawingml/2006/main" w="9525">
            <a:solidFill>
              <a:srgbClr val="D8D3C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CF0F2511-D3BF-4636-AECA-EDF77B56ABEC}"/>
              </a:ext>
            </a:extLst>
          </p:cNvPr>
          <p:cNvSpPr>
            <a:spLocks xmlns:a="http://schemas.openxmlformats.org/drawingml/2006/main" noGrp="1"/>
          </p:cNvSpPr>
          <p:nvPr/>
        </p:nvSpPr>
        <p:spPr>
          <a:xfrm xmlns:a="http://schemas.openxmlformats.org/drawingml/2006/main">
            <a:off x="4314825" y="1466850"/>
            <a:ext cx="3562350" cy="76200"/>
          </a:xfrm>
          <a:prstGeom xmlns:a="http://schemas.openxmlformats.org/drawingml/2006/main" prst="rect">
            <a:avLst/>
          </a:prstGeom>
          <a:solidFill xmlns:a="http://schemas.openxmlformats.org/drawingml/2006/main">
            <a:srgbClr val="19362D"/>
          </a:solidFill>
          <a:ln xmlns:a="http://schemas.openxmlformats.org/drawingml/2006/main" w="0">
            <a:solidFill>
              <a:srgbClr val="19362D"/>
            </a:solidFill>
            <a:prstDash val="solid"/>
          </a:ln>
        </p:spPr>
      </p:sp>
      <p:sp>
        <p:nvSpPr>
          <p:cNvPr id="10" name="">
            <a:extLst xmlns:a="http://schemas.openxmlformats.org/drawingml/2006/main">
              <a:ext uri="{FF2B5EF4-FFF2-40B4-BE49-F238E27FC236}">
                <a16:creationId xmlns:a16="http://schemas.microsoft.com/office/drawing/2014/main" id="{138332F7-1757-44F9-975C-C2445C95671B}"/>
              </a:ext>
            </a:extLst>
          </p:cNvPr>
          <p:cNvSpPr>
            <a:spLocks xmlns:a="http://schemas.openxmlformats.org/drawingml/2006/main" noGrp="1"/>
          </p:cNvSpPr>
          <p:nvPr/>
        </p:nvSpPr>
        <p:spPr>
          <a:xfrm xmlns:a="http://schemas.openxmlformats.org/drawingml/2006/main">
            <a:off x="4562475" y="1752600"/>
            <a:ext cx="3067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1" i="0">
                <a:solidFill>
                  <a:srgbClr val="19362D"/>
                </a:solidFill>
                <a:latin typeface="Aptos"/>
                <a:ea typeface="Aptos"/>
                <a:cs typeface="Aptos"/>
              </a:defRPr>
            </a:pPr>
            <a:r>
              <a:rPr sz="1800" b="1" i="0">
                <a:solidFill>
                  <a:srgbClr val="19362D"/>
                </a:solidFill>
                <a:latin typeface="Aptos"/>
                <a:ea typeface="Aptos"/>
                <a:cs typeface="Aptos"/>
              </a:rPr>
              <a:t>LEARNING FLOW</a:t>
            </a:r>
          </a:p>
        </p:txBody>
      </p:sp>
      <p:sp>
        <p:nvSpPr>
          <p:cNvPr id="11" name="">
            <a:extLst xmlns:a="http://schemas.openxmlformats.org/drawingml/2006/main">
              <a:ext uri="{FF2B5EF4-FFF2-40B4-BE49-F238E27FC236}">
                <a16:creationId xmlns:a16="http://schemas.microsoft.com/office/drawing/2014/main" id="{DB081578-518B-402D-A71D-D2B6FA84905A}"/>
              </a:ext>
            </a:extLst>
          </p:cNvPr>
          <p:cNvSpPr>
            <a:spLocks xmlns:a="http://schemas.openxmlformats.org/drawingml/2006/main" noGrp="1"/>
          </p:cNvSpPr>
          <p:nvPr/>
        </p:nvSpPr>
        <p:spPr>
          <a:xfrm xmlns:a="http://schemas.openxmlformats.org/drawingml/2006/main">
            <a:off x="4562475" y="2362200"/>
            <a:ext cx="3067050" cy="3219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Attempt the vulnerability.</a:t>
            </a:r>
          </a:p>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
            </a:r>
          </a:p>
          <a:p xmlns:a="http://schemas.openxmlformats.org/drawingml/2006/main">
            <a:r>
              <a:t>Reveal an artificial flag.</a:t>
            </a:r>
          </a:p>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
            </a:r>
          </a:p>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Compare the same input with a safer design.</a:t>
            </a:r>
          </a:p>
        </p:txBody>
      </p:sp>
      <p:sp>
        <p:nvSpPr>
          <p:cNvPr id="12" name="">
            <a:extLst xmlns:a="http://schemas.openxmlformats.org/drawingml/2006/main">
              <a:ext uri="{FF2B5EF4-FFF2-40B4-BE49-F238E27FC236}">
                <a16:creationId xmlns:a16="http://schemas.microsoft.com/office/drawing/2014/main" id="{CF027646-D3C3-4D77-846C-72E0F3F4A24F}"/>
              </a:ext>
            </a:extLst>
          </p:cNvPr>
          <p:cNvSpPr>
            <a:spLocks xmlns:a="http://schemas.openxmlformats.org/drawingml/2006/main" noGrp="1"/>
          </p:cNvSpPr>
          <p:nvPr/>
        </p:nvSpPr>
        <p:spPr>
          <a:xfrm xmlns:a="http://schemas.openxmlformats.org/drawingml/2006/main">
            <a:off x="8229600" y="1466850"/>
            <a:ext cx="3562350" cy="4343400"/>
          </a:xfrm>
          <a:prstGeom xmlns:a="http://schemas.openxmlformats.org/drawingml/2006/main" prst="roundRect">
            <a:avLst>
              <a:gd name="adj" fmla="val 4278"/>
            </a:avLst>
          </a:prstGeom>
          <a:solidFill xmlns:a="http://schemas.openxmlformats.org/drawingml/2006/main">
            <a:srgbClr val="FFFFFF"/>
          </a:solidFill>
          <a:ln xmlns:a="http://schemas.openxmlformats.org/drawingml/2006/main" w="9525">
            <a:solidFill>
              <a:srgbClr val="D8D3C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FDCB650E-DBD9-46FB-8E3C-DD807CAA9458}"/>
              </a:ext>
            </a:extLst>
          </p:cNvPr>
          <p:cNvSpPr>
            <a:spLocks xmlns:a="http://schemas.openxmlformats.org/drawingml/2006/main" noGrp="1"/>
          </p:cNvSpPr>
          <p:nvPr/>
        </p:nvSpPr>
        <p:spPr>
          <a:xfrm xmlns:a="http://schemas.openxmlformats.org/drawingml/2006/main">
            <a:off x="8229600" y="1466850"/>
            <a:ext cx="3562350" cy="76200"/>
          </a:xfrm>
          <a:prstGeom xmlns:a="http://schemas.openxmlformats.org/drawingml/2006/main" prst="rect">
            <a:avLst/>
          </a:prstGeom>
          <a:solidFill xmlns:a="http://schemas.openxmlformats.org/drawingml/2006/main">
            <a:srgbClr val="26734A"/>
          </a:solidFill>
          <a:ln xmlns:a="http://schemas.openxmlformats.org/drawingml/2006/main" w="0">
            <a:solidFill>
              <a:srgbClr val="26734A"/>
            </a:solidFill>
            <a:prstDash val="solid"/>
          </a:ln>
        </p:spPr>
      </p:sp>
      <p:sp>
        <p:nvSpPr>
          <p:cNvPr id="14" name="">
            <a:extLst xmlns:a="http://schemas.openxmlformats.org/drawingml/2006/main">
              <a:ext uri="{FF2B5EF4-FFF2-40B4-BE49-F238E27FC236}">
                <a16:creationId xmlns:a16="http://schemas.microsoft.com/office/drawing/2014/main" id="{49285659-7BC6-4843-B9EB-BF891646FBE8}"/>
              </a:ext>
            </a:extLst>
          </p:cNvPr>
          <p:cNvSpPr>
            <a:spLocks xmlns:a="http://schemas.openxmlformats.org/drawingml/2006/main" noGrp="1"/>
          </p:cNvSpPr>
          <p:nvPr/>
        </p:nvSpPr>
        <p:spPr>
          <a:xfrm xmlns:a="http://schemas.openxmlformats.org/drawingml/2006/main">
            <a:off x="8477250" y="1752600"/>
            <a:ext cx="3067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1" i="0">
                <a:solidFill>
                  <a:srgbClr val="26734A"/>
                </a:solidFill>
                <a:latin typeface="Aptos"/>
                <a:ea typeface="Aptos"/>
                <a:cs typeface="Aptos"/>
              </a:defRPr>
            </a:pPr>
            <a:r>
              <a:rPr sz="1800" b="1" i="0">
                <a:solidFill>
                  <a:srgbClr val="26734A"/>
                </a:solidFill>
                <a:latin typeface="Aptos"/>
                <a:ea typeface="Aptos"/>
                <a:cs typeface="Aptos"/>
              </a:rPr>
              <a:t>SCOPE</a:t>
            </a:r>
          </a:p>
        </p:txBody>
      </p:sp>
      <p:sp>
        <p:nvSpPr>
          <p:cNvPr id="15" name="">
            <a:extLst xmlns:a="http://schemas.openxmlformats.org/drawingml/2006/main">
              <a:ext uri="{FF2B5EF4-FFF2-40B4-BE49-F238E27FC236}">
                <a16:creationId xmlns:a16="http://schemas.microsoft.com/office/drawing/2014/main" id="{720DC7A8-D444-4E9B-9B05-2C0E4B40FB67}"/>
              </a:ext>
            </a:extLst>
          </p:cNvPr>
          <p:cNvSpPr>
            <a:spLocks xmlns:a="http://schemas.openxmlformats.org/drawingml/2006/main" noGrp="1"/>
          </p:cNvSpPr>
          <p:nvPr/>
        </p:nvSpPr>
        <p:spPr>
          <a:xfrm xmlns:a="http://schemas.openxmlformats.org/drawingml/2006/main">
            <a:off x="8477250" y="2362200"/>
            <a:ext cx="3067050" cy="3219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Runs only on 127.0.0.1.</a:t>
            </a:r>
          </a:p>
          <a:p xmlns:a="http://schemas.openxmlformats.org/drawingml/2006/main">
            <a:r>
              <a:t/>
            </a:r>
          </a:p>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Uses artificial flags and demo data.</a:t>
            </a:r>
          </a:p>
          <a:p xmlns:a="http://schemas.openxmlformats.org/drawingml/2006/main">
            <a:r>
              <a:t/>
            </a:r>
          </a:p>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No external target is scanned or attacked.</a:t>
            </a:r>
          </a:p>
        </p:txBody>
      </p:sp>
    </p:spTree>
    <p:extLst>
      <p:ext uri="{BB962C8B-B14F-4D97-AF65-F5344CB8AC3E}">
        <p14:creationId xmlns:p14="http://schemas.microsoft.com/office/powerpoint/2010/main" val="832459894"/>
      </p:ext>
    </p:extLst>
  </p:cSld>
</p:sld>
</file>

<file path=ppt/slides/slide3.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10DF786-1811-4EFD-8491-A6A4BBFBAC99}"/>
              </a:ext>
            </a:extLst>
          </p:cNvPr>
          <p:cNvSpPr>
            <a:spLocks xmlns:a="http://schemas.openxmlformats.org/drawingml/2006/main" noGrp="1"/>
          </p:cNvSpPr>
          <p:nvPr/>
        </p:nvSpPr>
        <p:spPr>
          <a:xfrm xmlns:a="http://schemas.openxmlformats.org/drawingml/2006/main">
            <a:off x="400050" y="3238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i="0">
                <a:solidFill>
                  <a:srgbClr val="19362D"/>
                </a:solidFill>
                <a:latin typeface="Aptos"/>
                <a:ea typeface="Aptos"/>
                <a:cs typeface="Aptos"/>
              </a:defRPr>
            </a:pPr>
            <a:r>
              <a:rPr sz="2925" b="1" i="0">
                <a:solidFill>
                  <a:srgbClr val="19362D"/>
                </a:solidFill>
                <a:latin typeface="Aptos"/>
                <a:ea typeface="Aptos"/>
                <a:cs typeface="Aptos"/>
              </a:rPr>
              <a:t>Four challenges expose one trust problem</a:t>
            </a:r>
          </a:p>
        </p:txBody>
      </p:sp>
      <p:sp>
        <p:nvSpPr>
          <p:cNvPr id="2" name="">
            <a:extLst xmlns:a="http://schemas.openxmlformats.org/drawingml/2006/main">
              <a:ext uri="{FF2B5EF4-FFF2-40B4-BE49-F238E27FC236}">
                <a16:creationId xmlns:a16="http://schemas.microsoft.com/office/drawing/2014/main" id="{5739F204-9EF9-45C0-A31A-374BEB697592}"/>
              </a:ext>
            </a:extLst>
          </p:cNvPr>
          <p:cNvSpPr>
            <a:spLocks xmlns:a="http://schemas.openxmlformats.org/drawingml/2006/main" noGrp="1"/>
          </p:cNvSpPr>
          <p:nvPr/>
        </p:nvSpPr>
        <p:spPr>
          <a:xfrm xmlns:a="http://schemas.openxmlformats.org/drawingml/2006/main">
            <a:off x="400050" y="1066800"/>
            <a:ext cx="876300" cy="47625"/>
          </a:xfrm>
          <a:prstGeom xmlns:a="http://schemas.openxmlformats.org/drawingml/2006/main" prst="rect">
            <a:avLst/>
          </a:prstGeom>
          <a:solidFill xmlns:a="http://schemas.openxmlformats.org/drawingml/2006/main">
            <a:srgbClr val="9A461C"/>
          </a:solidFill>
          <a:ln xmlns:a="http://schemas.openxmlformats.org/drawingml/2006/main" w="0">
            <a:solidFill>
              <a:srgbClr val="9A461C"/>
            </a:solidFill>
            <a:prstDash val="solid"/>
          </a:ln>
        </p:spPr>
      </p:sp>
      <p:sp>
        <p:nvSpPr>
          <p:cNvPr id="3" name="">
            <a:extLst xmlns:a="http://schemas.openxmlformats.org/drawingml/2006/main">
              <a:ext uri="{FF2B5EF4-FFF2-40B4-BE49-F238E27FC236}">
                <a16:creationId xmlns:a16="http://schemas.microsoft.com/office/drawing/2014/main" id="{D3D1AF19-A2A6-40BC-911F-04B8D95DF9D2}"/>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r">
              <a:buNone/>
              <a:defRPr sz="975" b="0" i="0">
                <a:solidFill>
                  <a:srgbClr val="6A716D"/>
                </a:solidFill>
                <a:latin typeface="Aptos"/>
                <a:ea typeface="Aptos"/>
                <a:cs typeface="Aptos"/>
              </a:defRPr>
            </a:pPr>
            <a:r>
              <a:rPr sz="975" b="0" i="0">
                <a:solidFill>
                  <a:srgbClr val="6A716D"/>
                </a:solidFill>
                <a:latin typeface="Aptos"/>
                <a:ea typeface="Aptos"/>
                <a:cs typeface="Aptos"/>
              </a:rPr>
              <a:t>03</a:t>
            </a:r>
          </a:p>
        </p:txBody>
      </p:sp>
      <p:sp>
        <p:nvSpPr>
          <p:cNvPr id="4" name="">
            <a:extLst xmlns:a="http://schemas.openxmlformats.org/drawingml/2006/main">
              <a:ext uri="{FF2B5EF4-FFF2-40B4-BE49-F238E27FC236}">
                <a16:creationId xmlns:a16="http://schemas.microsoft.com/office/drawing/2014/main" id="{E0C29421-4855-48A6-B49A-7FFDB4BCDBFC}"/>
              </a:ext>
            </a:extLst>
          </p:cNvPr>
          <p:cNvSpPr>
            <a:spLocks xmlns:a="http://schemas.openxmlformats.org/drawingml/2006/main" noGrp="1"/>
          </p:cNvSpPr>
          <p:nvPr/>
        </p:nvSpPr>
        <p:spPr>
          <a:xfrm xmlns:a="http://schemas.openxmlformats.org/drawingml/2006/main">
            <a:off x="400050" y="1466850"/>
            <a:ext cx="3562350" cy="4343400"/>
          </a:xfrm>
          <a:prstGeom xmlns:a="http://schemas.openxmlformats.org/drawingml/2006/main" prst="roundRect">
            <a:avLst>
              <a:gd name="adj" fmla="val 4278"/>
            </a:avLst>
          </a:prstGeom>
          <a:solidFill xmlns:a="http://schemas.openxmlformats.org/drawingml/2006/main">
            <a:srgbClr val="FFFFFF"/>
          </a:solidFill>
          <a:ln xmlns:a="http://schemas.openxmlformats.org/drawingml/2006/main" w="9525">
            <a:solidFill>
              <a:srgbClr val="D8D3C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F3A2DC8E-54A3-4160-8650-090B6B9403A1}"/>
              </a:ext>
            </a:extLst>
          </p:cNvPr>
          <p:cNvSpPr>
            <a:spLocks xmlns:a="http://schemas.openxmlformats.org/drawingml/2006/main" noGrp="1"/>
          </p:cNvSpPr>
          <p:nvPr/>
        </p:nvSpPr>
        <p:spPr>
          <a:xfrm xmlns:a="http://schemas.openxmlformats.org/drawingml/2006/main">
            <a:off x="400050" y="1466850"/>
            <a:ext cx="3562350" cy="76200"/>
          </a:xfrm>
          <a:prstGeom xmlns:a="http://schemas.openxmlformats.org/drawingml/2006/main" prst="rect">
            <a:avLst/>
          </a:prstGeom>
          <a:solidFill xmlns:a="http://schemas.openxmlformats.org/drawingml/2006/main">
            <a:srgbClr val="9A461C"/>
          </a:solidFill>
          <a:ln xmlns:a="http://schemas.openxmlformats.org/drawingml/2006/main" w="0">
            <a:solidFill>
              <a:srgbClr val="9A461C"/>
            </a:solidFill>
            <a:prstDash val="solid"/>
          </a:ln>
        </p:spPr>
      </p:sp>
      <p:sp>
        <p:nvSpPr>
          <p:cNvPr id="6" name="">
            <a:extLst xmlns:a="http://schemas.openxmlformats.org/drawingml/2006/main">
              <a:ext uri="{FF2B5EF4-FFF2-40B4-BE49-F238E27FC236}">
                <a16:creationId xmlns:a16="http://schemas.microsoft.com/office/drawing/2014/main" id="{19347E0A-C5C0-4BE1-AF2D-A26AEB8DDED5}"/>
              </a:ext>
            </a:extLst>
          </p:cNvPr>
          <p:cNvSpPr>
            <a:spLocks xmlns:a="http://schemas.openxmlformats.org/drawingml/2006/main" noGrp="1"/>
          </p:cNvSpPr>
          <p:nvPr/>
        </p:nvSpPr>
        <p:spPr>
          <a:xfrm xmlns:a="http://schemas.openxmlformats.org/drawingml/2006/main">
            <a:off x="647700" y="1752600"/>
            <a:ext cx="3067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1" i="0">
                <a:solidFill>
                  <a:srgbClr val="9A461C"/>
                </a:solidFill>
                <a:latin typeface="Aptos"/>
                <a:ea typeface="Aptos"/>
                <a:cs typeface="Aptos"/>
              </a:defRPr>
            </a:pPr>
            <a:r>
              <a:rPr sz="1800" b="1" i="0">
                <a:solidFill>
                  <a:srgbClr val="9A461C"/>
                </a:solidFill>
                <a:latin typeface="Aptos"/>
                <a:ea typeface="Aptos"/>
                <a:cs typeface="Aptos"/>
              </a:rPr>
              <a:t>01  TRUST</a:t>
            </a:r>
          </a:p>
        </p:txBody>
      </p:sp>
      <p:sp>
        <p:nvSpPr>
          <p:cNvPr id="7" name="">
            <a:extLst xmlns:a="http://schemas.openxmlformats.org/drawingml/2006/main">
              <a:ext uri="{FF2B5EF4-FFF2-40B4-BE49-F238E27FC236}">
                <a16:creationId xmlns:a16="http://schemas.microsoft.com/office/drawing/2014/main" id="{F52D11F0-6FD4-4FC7-96C9-34FFDC1B11AA}"/>
              </a:ext>
            </a:extLst>
          </p:cNvPr>
          <p:cNvSpPr>
            <a:spLocks xmlns:a="http://schemas.openxmlformats.org/drawingml/2006/main" noGrp="1"/>
          </p:cNvSpPr>
          <p:nvPr/>
        </p:nvSpPr>
        <p:spPr>
          <a:xfrm xmlns:a="http://schemas.openxmlformats.org/drawingml/2006/main">
            <a:off x="647700" y="2362200"/>
            <a:ext cx="3067050" cy="3219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Cookie Role Bypass</a:t>
            </a:r>
          </a:p>
          <a:p xmlns:a="http://schemas.openxmlformats.org/drawingml/2006/main">
            <a:r>
              <a:t/>
            </a:r>
          </a:p>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The server trusts a client-side role cookie.</a:t>
            </a:r>
          </a:p>
          <a:p xmlns:a="http://schemas.openxmlformats.org/drawingml/2006/main">
            <a:r>
              <a:t/>
            </a:r>
          </a:p>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Lesson: authorisation decisions must come from server-controlled identity.</a:t>
            </a:r>
          </a:p>
        </p:txBody>
      </p:sp>
      <p:sp>
        <p:nvSpPr>
          <p:cNvPr id="8" name="">
            <a:extLst xmlns:a="http://schemas.openxmlformats.org/drawingml/2006/main">
              <a:ext uri="{FF2B5EF4-FFF2-40B4-BE49-F238E27FC236}">
                <a16:creationId xmlns:a16="http://schemas.microsoft.com/office/drawing/2014/main" id="{73C1B7A2-30D5-4A17-903A-D55602E7EDE3}"/>
              </a:ext>
            </a:extLst>
          </p:cNvPr>
          <p:cNvSpPr>
            <a:spLocks xmlns:a="http://schemas.openxmlformats.org/drawingml/2006/main" noGrp="1"/>
          </p:cNvSpPr>
          <p:nvPr/>
        </p:nvSpPr>
        <p:spPr>
          <a:xfrm xmlns:a="http://schemas.openxmlformats.org/drawingml/2006/main">
            <a:off x="4314825" y="1466850"/>
            <a:ext cx="3562350" cy="4343400"/>
          </a:xfrm>
          <a:prstGeom xmlns:a="http://schemas.openxmlformats.org/drawingml/2006/main" prst="roundRect">
            <a:avLst>
              <a:gd name="adj" fmla="val 4278"/>
            </a:avLst>
          </a:prstGeom>
          <a:solidFill xmlns:a="http://schemas.openxmlformats.org/drawingml/2006/main">
            <a:srgbClr val="FFFFFF"/>
          </a:solidFill>
          <a:ln xmlns:a="http://schemas.openxmlformats.org/drawingml/2006/main" w="9525">
            <a:solidFill>
              <a:srgbClr val="D8D3C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CF0F2511-D3BF-4636-AECA-EDF77B56ABEC}"/>
              </a:ext>
            </a:extLst>
          </p:cNvPr>
          <p:cNvSpPr>
            <a:spLocks xmlns:a="http://schemas.openxmlformats.org/drawingml/2006/main" noGrp="1"/>
          </p:cNvSpPr>
          <p:nvPr/>
        </p:nvSpPr>
        <p:spPr>
          <a:xfrm xmlns:a="http://schemas.openxmlformats.org/drawingml/2006/main">
            <a:off x="4314825" y="1466850"/>
            <a:ext cx="3562350" cy="76200"/>
          </a:xfrm>
          <a:prstGeom xmlns:a="http://schemas.openxmlformats.org/drawingml/2006/main" prst="rect">
            <a:avLst/>
          </a:prstGeom>
          <a:solidFill xmlns:a="http://schemas.openxmlformats.org/drawingml/2006/main">
            <a:srgbClr val="19362D"/>
          </a:solidFill>
          <a:ln xmlns:a="http://schemas.openxmlformats.org/drawingml/2006/main" w="0">
            <a:solidFill>
              <a:srgbClr val="19362D"/>
            </a:solidFill>
            <a:prstDash val="solid"/>
          </a:ln>
        </p:spPr>
      </p:sp>
      <p:sp>
        <p:nvSpPr>
          <p:cNvPr id="10" name="">
            <a:extLst xmlns:a="http://schemas.openxmlformats.org/drawingml/2006/main">
              <a:ext uri="{FF2B5EF4-FFF2-40B4-BE49-F238E27FC236}">
                <a16:creationId xmlns:a16="http://schemas.microsoft.com/office/drawing/2014/main" id="{138332F7-1757-44F9-975C-C2445C95671B}"/>
              </a:ext>
            </a:extLst>
          </p:cNvPr>
          <p:cNvSpPr>
            <a:spLocks xmlns:a="http://schemas.openxmlformats.org/drawingml/2006/main" noGrp="1"/>
          </p:cNvSpPr>
          <p:nvPr/>
        </p:nvSpPr>
        <p:spPr>
          <a:xfrm xmlns:a="http://schemas.openxmlformats.org/drawingml/2006/main">
            <a:off x="4562475" y="1752600"/>
            <a:ext cx="3067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1" i="0">
                <a:solidFill>
                  <a:srgbClr val="19362D"/>
                </a:solidFill>
                <a:latin typeface="Aptos"/>
                <a:ea typeface="Aptos"/>
                <a:cs typeface="Aptos"/>
              </a:defRPr>
            </a:pPr>
            <a:r>
              <a:rPr sz="1800" b="1" i="0">
                <a:solidFill>
                  <a:srgbClr val="19362D"/>
                </a:solidFill>
                <a:latin typeface="Aptos"/>
                <a:ea typeface="Aptos"/>
                <a:cs typeface="Aptos"/>
              </a:rPr>
              <a:t>02–03  CONTEXT</a:t>
            </a:r>
          </a:p>
        </p:txBody>
      </p:sp>
      <p:sp>
        <p:nvSpPr>
          <p:cNvPr id="11" name="">
            <a:extLst xmlns:a="http://schemas.openxmlformats.org/drawingml/2006/main">
              <a:ext uri="{FF2B5EF4-FFF2-40B4-BE49-F238E27FC236}">
                <a16:creationId xmlns:a16="http://schemas.microsoft.com/office/drawing/2014/main" id="{DB081578-518B-402D-A71D-D2B6FA84905A}"/>
              </a:ext>
            </a:extLst>
          </p:cNvPr>
          <p:cNvSpPr>
            <a:spLocks xmlns:a="http://schemas.openxmlformats.org/drawingml/2006/main" noGrp="1"/>
          </p:cNvSpPr>
          <p:nvPr/>
        </p:nvSpPr>
        <p:spPr>
          <a:xfrm xmlns:a="http://schemas.openxmlformats.org/drawingml/2006/main">
            <a:off x="4562475" y="2362200"/>
            <a:ext cx="3067050" cy="3219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Reflected XSS</a:t>
            </a:r>
          </a:p>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Unsafe HTML rendering.</a:t>
            </a:r>
          </a:p>
          <a:p xmlns:a="http://schemas.openxmlformats.org/drawingml/2006/main">
            <a:r>
              <a:t/>
            </a:r>
          </a:p>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Path Traversal</a:t>
            </a:r>
          </a:p>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Unsafe filename joining.</a:t>
            </a:r>
          </a:p>
          <a:p xmlns:a="http://schemas.openxmlformats.org/drawingml/2006/main">
            <a:r>
              <a:t/>
            </a:r>
          </a:p>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Lesson: validate and encode input for the exact output or file context.</a:t>
            </a:r>
          </a:p>
        </p:txBody>
      </p:sp>
      <p:sp>
        <p:nvSpPr>
          <p:cNvPr id="12" name="">
            <a:extLst xmlns:a="http://schemas.openxmlformats.org/drawingml/2006/main">
              <a:ext uri="{FF2B5EF4-FFF2-40B4-BE49-F238E27FC236}">
                <a16:creationId xmlns:a16="http://schemas.microsoft.com/office/drawing/2014/main" id="{CF027646-D3C3-4D77-846C-72E0F3F4A24F}"/>
              </a:ext>
            </a:extLst>
          </p:cNvPr>
          <p:cNvSpPr>
            <a:spLocks xmlns:a="http://schemas.openxmlformats.org/drawingml/2006/main" noGrp="1"/>
          </p:cNvSpPr>
          <p:nvPr/>
        </p:nvSpPr>
        <p:spPr>
          <a:xfrm xmlns:a="http://schemas.openxmlformats.org/drawingml/2006/main">
            <a:off x="8229600" y="1466850"/>
            <a:ext cx="3562350" cy="4343400"/>
          </a:xfrm>
          <a:prstGeom xmlns:a="http://schemas.openxmlformats.org/drawingml/2006/main" prst="roundRect">
            <a:avLst>
              <a:gd name="adj" fmla="val 4278"/>
            </a:avLst>
          </a:prstGeom>
          <a:solidFill xmlns:a="http://schemas.openxmlformats.org/drawingml/2006/main">
            <a:srgbClr val="FFFFFF"/>
          </a:solidFill>
          <a:ln xmlns:a="http://schemas.openxmlformats.org/drawingml/2006/main" w="9525">
            <a:solidFill>
              <a:srgbClr val="D8D3C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FDCB650E-DBD9-46FB-8E3C-DD807CAA9458}"/>
              </a:ext>
            </a:extLst>
          </p:cNvPr>
          <p:cNvSpPr>
            <a:spLocks xmlns:a="http://schemas.openxmlformats.org/drawingml/2006/main" noGrp="1"/>
          </p:cNvSpPr>
          <p:nvPr/>
        </p:nvSpPr>
        <p:spPr>
          <a:xfrm xmlns:a="http://schemas.openxmlformats.org/drawingml/2006/main">
            <a:off x="8229600" y="1466850"/>
            <a:ext cx="3562350" cy="76200"/>
          </a:xfrm>
          <a:prstGeom xmlns:a="http://schemas.openxmlformats.org/drawingml/2006/main" prst="rect">
            <a:avLst/>
          </a:prstGeom>
          <a:solidFill xmlns:a="http://schemas.openxmlformats.org/drawingml/2006/main">
            <a:srgbClr val="26734A"/>
          </a:solidFill>
          <a:ln xmlns:a="http://schemas.openxmlformats.org/drawingml/2006/main" w="0">
            <a:solidFill>
              <a:srgbClr val="26734A"/>
            </a:solidFill>
            <a:prstDash val="solid"/>
          </a:ln>
        </p:spPr>
      </p:sp>
      <p:sp>
        <p:nvSpPr>
          <p:cNvPr id="14" name="">
            <a:extLst xmlns:a="http://schemas.openxmlformats.org/drawingml/2006/main">
              <a:ext uri="{FF2B5EF4-FFF2-40B4-BE49-F238E27FC236}">
                <a16:creationId xmlns:a16="http://schemas.microsoft.com/office/drawing/2014/main" id="{49285659-7BC6-4843-B9EB-BF891646FBE8}"/>
              </a:ext>
            </a:extLst>
          </p:cNvPr>
          <p:cNvSpPr>
            <a:spLocks xmlns:a="http://schemas.openxmlformats.org/drawingml/2006/main" noGrp="1"/>
          </p:cNvSpPr>
          <p:nvPr/>
        </p:nvSpPr>
        <p:spPr>
          <a:xfrm xmlns:a="http://schemas.openxmlformats.org/drawingml/2006/main">
            <a:off x="8477250" y="1752600"/>
            <a:ext cx="3067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1" i="0">
                <a:solidFill>
                  <a:srgbClr val="26734A"/>
                </a:solidFill>
                <a:latin typeface="Aptos"/>
                <a:ea typeface="Aptos"/>
                <a:cs typeface="Aptos"/>
              </a:defRPr>
            </a:pPr>
            <a:r>
              <a:rPr sz="1800" b="1" i="0">
                <a:solidFill>
                  <a:srgbClr val="26734A"/>
                </a:solidFill>
                <a:latin typeface="Aptos"/>
                <a:ea typeface="Aptos"/>
                <a:cs typeface="Aptos"/>
              </a:rPr>
              <a:t>04  QUERY LOGIC</a:t>
            </a:r>
          </a:p>
        </p:txBody>
      </p:sp>
      <p:sp>
        <p:nvSpPr>
          <p:cNvPr id="15" name="">
            <a:extLst xmlns:a="http://schemas.openxmlformats.org/drawingml/2006/main">
              <a:ext uri="{FF2B5EF4-FFF2-40B4-BE49-F238E27FC236}">
                <a16:creationId xmlns:a16="http://schemas.microsoft.com/office/drawing/2014/main" id="{720DC7A8-D444-4E9B-9B05-2C0E4B40FB67}"/>
              </a:ext>
            </a:extLst>
          </p:cNvPr>
          <p:cNvSpPr>
            <a:spLocks xmlns:a="http://schemas.openxmlformats.org/drawingml/2006/main" noGrp="1"/>
          </p:cNvSpPr>
          <p:nvPr/>
        </p:nvSpPr>
        <p:spPr>
          <a:xfrm xmlns:a="http://schemas.openxmlformats.org/drawingml/2006/main">
            <a:off x="8477250" y="2362200"/>
            <a:ext cx="3067050" cy="3219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Simple SQL Injection</a:t>
            </a:r>
          </a:p>
          <a:p xmlns:a="http://schemas.openxmlformats.org/drawingml/2006/main">
            <a:r>
              <a:t/>
            </a:r>
          </a:p>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The login query is built by concatenating strings.</a:t>
            </a:r>
          </a:p>
          <a:p xmlns:a="http://schemas.openxmlformats.org/drawingml/2006/main">
            <a:r>
              <a:t/>
            </a:r>
          </a:p>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Lesson: parameterised queries keep user input as data instead of SQL code.</a:t>
            </a:r>
          </a:p>
        </p:txBody>
      </p:sp>
    </p:spTree>
    <p:extLst>
      <p:ext uri="{BB962C8B-B14F-4D97-AF65-F5344CB8AC3E}">
        <p14:creationId xmlns:p14="http://schemas.microsoft.com/office/powerpoint/2010/main" val="832459894"/>
      </p:ext>
    </p:extLst>
  </p:cSld>
</p:sld>
</file>

<file path=ppt/slides/slide4.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DE907FC-10C9-4077-BAA4-2A93F6A3C0AF}"/>
              </a:ext>
            </a:extLst>
          </p:cNvPr>
          <p:cNvSpPr>
            <a:spLocks xmlns:a="http://schemas.openxmlformats.org/drawingml/2006/main" noGrp="1"/>
          </p:cNvSpPr>
          <p:nvPr/>
        </p:nvSpPr>
        <p:spPr>
          <a:xfrm xmlns:a="http://schemas.openxmlformats.org/drawingml/2006/main">
            <a:off x="400050" y="3238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i="0">
                <a:solidFill>
                  <a:srgbClr val="19362D"/>
                </a:solidFill>
                <a:latin typeface="Aptos"/>
                <a:ea typeface="Aptos"/>
                <a:cs typeface="Aptos"/>
              </a:defRPr>
            </a:pPr>
            <a:r>
              <a:rPr sz="2925" b="1" i="0">
                <a:solidFill>
                  <a:srgbClr val="19362D"/>
                </a:solidFill>
                <a:latin typeface="Aptos"/>
                <a:ea typeface="Aptos"/>
                <a:cs typeface="Aptos"/>
              </a:rPr>
              <a:t>Attack story: reflected XSS</a:t>
            </a:r>
          </a:p>
        </p:txBody>
      </p:sp>
      <p:sp>
        <p:nvSpPr>
          <p:cNvPr id="2" name="">
            <a:extLst xmlns:a="http://schemas.openxmlformats.org/drawingml/2006/main">
              <a:ext uri="{FF2B5EF4-FFF2-40B4-BE49-F238E27FC236}">
                <a16:creationId xmlns:a16="http://schemas.microsoft.com/office/drawing/2014/main" id="{96D9E0F0-66FA-4E43-A28E-225DA8A8AF8A}"/>
              </a:ext>
            </a:extLst>
          </p:cNvPr>
          <p:cNvSpPr>
            <a:spLocks xmlns:a="http://schemas.openxmlformats.org/drawingml/2006/main" noGrp="1"/>
          </p:cNvSpPr>
          <p:nvPr/>
        </p:nvSpPr>
        <p:spPr>
          <a:xfrm xmlns:a="http://schemas.openxmlformats.org/drawingml/2006/main">
            <a:off x="400050" y="1066800"/>
            <a:ext cx="876300" cy="47625"/>
          </a:xfrm>
          <a:prstGeom xmlns:a="http://schemas.openxmlformats.org/drawingml/2006/main" prst="rect">
            <a:avLst/>
          </a:prstGeom>
          <a:solidFill xmlns:a="http://schemas.openxmlformats.org/drawingml/2006/main">
            <a:srgbClr val="9A461C"/>
          </a:solidFill>
          <a:ln xmlns:a="http://schemas.openxmlformats.org/drawingml/2006/main" w="0">
            <a:solidFill>
              <a:srgbClr val="9A461C"/>
            </a:solidFill>
            <a:prstDash val="solid"/>
          </a:ln>
        </p:spPr>
      </p:sp>
      <p:sp>
        <p:nvSpPr>
          <p:cNvPr id="3" name="">
            <a:extLst xmlns:a="http://schemas.openxmlformats.org/drawingml/2006/main">
              <a:ext uri="{FF2B5EF4-FFF2-40B4-BE49-F238E27FC236}">
                <a16:creationId xmlns:a16="http://schemas.microsoft.com/office/drawing/2014/main" id="{E27D6D49-F374-4D23-99D3-6D94FA9C1A25}"/>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r">
              <a:buNone/>
              <a:defRPr sz="975" b="0" i="0">
                <a:solidFill>
                  <a:srgbClr val="6A716D"/>
                </a:solidFill>
                <a:latin typeface="Aptos"/>
                <a:ea typeface="Aptos"/>
                <a:cs typeface="Aptos"/>
              </a:defRPr>
            </a:pPr>
            <a:r>
              <a:rPr sz="975" b="0" i="0">
                <a:solidFill>
                  <a:srgbClr val="6A716D"/>
                </a:solidFill>
                <a:latin typeface="Aptos"/>
                <a:ea typeface="Aptos"/>
                <a:cs typeface="Aptos"/>
              </a:rPr>
              <a:t>04</a:t>
            </a:r>
          </a:p>
        </p:txBody>
      </p:sp>
      <p:sp>
        <p:nvSpPr>
          <p:cNvPr id="4" name="">
            <a:extLst xmlns:a="http://schemas.openxmlformats.org/drawingml/2006/main">
              <a:ext uri="{FF2B5EF4-FFF2-40B4-BE49-F238E27FC236}">
                <a16:creationId xmlns:a16="http://schemas.microsoft.com/office/drawing/2014/main" id="{1A162FDF-95DD-4D62-9386-D73190DE4F5E}"/>
              </a:ext>
            </a:extLst>
          </p:cNvPr>
          <p:cNvSpPr>
            <a:spLocks xmlns:a="http://schemas.openxmlformats.org/drawingml/2006/main" noGrp="1"/>
          </p:cNvSpPr>
          <p:nvPr/>
        </p:nvSpPr>
        <p:spPr>
          <a:xfrm xmlns:a="http://schemas.openxmlformats.org/drawingml/2006/main">
            <a:off x="400050" y="161925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1" i="0">
                <a:solidFill>
                  <a:srgbClr val="9A461C"/>
                </a:solidFill>
                <a:latin typeface="Aptos"/>
                <a:ea typeface="Aptos"/>
                <a:cs typeface="Aptos"/>
              </a:defRPr>
            </a:pPr>
            <a:r>
              <a:rPr sz="1650" b="1" i="0">
                <a:solidFill>
                  <a:srgbClr val="9A461C"/>
                </a:solidFill>
                <a:latin typeface="Aptos"/>
                <a:ea typeface="Aptos"/>
                <a:cs typeface="Aptos"/>
              </a:rPr>
              <a:t>Trust boundary</a:t>
            </a:r>
          </a:p>
        </p:txBody>
      </p:sp>
      <p:sp>
        <p:nvSpPr>
          <p:cNvPr id="5" name="">
            <a:extLst xmlns:a="http://schemas.openxmlformats.org/drawingml/2006/main">
              <a:ext uri="{FF2B5EF4-FFF2-40B4-BE49-F238E27FC236}">
                <a16:creationId xmlns:a16="http://schemas.microsoft.com/office/drawing/2014/main" id="{809964C7-7D63-4107-8971-A4596AB29AC4}"/>
              </a:ext>
            </a:extLst>
          </p:cNvPr>
          <p:cNvSpPr>
            <a:spLocks xmlns:a="http://schemas.openxmlformats.org/drawingml/2006/main" noGrp="1"/>
          </p:cNvSpPr>
          <p:nvPr/>
        </p:nvSpPr>
        <p:spPr>
          <a:xfrm xmlns:a="http://schemas.openxmlformats.org/drawingml/2006/main">
            <a:off x="400050" y="2057400"/>
            <a:ext cx="5238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75" b="1" i="0">
                <a:solidFill>
                  <a:srgbClr val="202824"/>
                </a:solidFill>
                <a:latin typeface="Aptos"/>
                <a:ea typeface="Aptos"/>
                <a:cs typeface="Aptos"/>
              </a:defRPr>
            </a:pPr>
            <a:r>
              <a:rPr sz="2175" b="1" i="0">
                <a:solidFill>
                  <a:srgbClr val="202824"/>
                </a:solidFill>
                <a:latin typeface="Aptos"/>
                <a:ea typeface="Aptos"/>
                <a:cs typeface="Aptos"/>
              </a:rPr>
              <a:t>A search query is read from the URL and rendered with |safe.</a:t>
            </a:r>
          </a:p>
        </p:txBody>
      </p:sp>
      <p:sp>
        <p:nvSpPr>
          <p:cNvPr id="6" name="">
            <a:extLst xmlns:a="http://schemas.openxmlformats.org/drawingml/2006/main">
              <a:ext uri="{FF2B5EF4-FFF2-40B4-BE49-F238E27FC236}">
                <a16:creationId xmlns:a16="http://schemas.microsoft.com/office/drawing/2014/main" id="{93F79422-A66E-40FC-B307-AE67CC62EF0C}"/>
              </a:ext>
            </a:extLst>
          </p:cNvPr>
          <p:cNvSpPr>
            <a:spLocks xmlns:a="http://schemas.openxmlformats.org/drawingml/2006/main" noGrp="1"/>
          </p:cNvSpPr>
          <p:nvPr/>
        </p:nvSpPr>
        <p:spPr>
          <a:xfrm xmlns:a="http://schemas.openxmlformats.org/drawingml/2006/main">
            <a:off x="400050" y="3181350"/>
            <a:ext cx="5219700" cy="838200"/>
          </a:xfrm>
          <a:prstGeom xmlns:a="http://schemas.openxmlformats.org/drawingml/2006/main" prst="roundRect">
            <a:avLst>
              <a:gd name="adj" fmla="val 18182"/>
            </a:avLst>
          </a:prstGeom>
          <a:solidFill xmlns:a="http://schemas.openxmlformats.org/drawingml/2006/main">
            <a:srgbClr val="EAF2F4"/>
          </a:solidFill>
          <a:ln xmlns:a="http://schemas.openxmlformats.org/drawingml/2006/main" w="9525">
            <a:solidFill>
              <a:srgbClr val="B8C9CE"/>
            </a:solidFill>
            <a:prstDash val="solid"/>
          </a:ln>
        </p:spPr>
      </p:sp>
      <p:sp>
        <p:nvSpPr>
          <p:cNvPr id="7" name="">
            <a:extLst xmlns:a="http://schemas.openxmlformats.org/drawingml/2006/main">
              <a:ext uri="{FF2B5EF4-FFF2-40B4-BE49-F238E27FC236}">
                <a16:creationId xmlns:a16="http://schemas.microsoft.com/office/drawing/2014/main" id="{F1635DB4-2B9D-4FBC-B852-FDE9B54D7E16}"/>
              </a:ext>
            </a:extLst>
          </p:cNvPr>
          <p:cNvSpPr>
            <a:spLocks xmlns:a="http://schemas.openxmlformats.org/drawingml/2006/main" noGrp="1"/>
          </p:cNvSpPr>
          <p:nvPr/>
        </p:nvSpPr>
        <p:spPr>
          <a:xfrm xmlns:a="http://schemas.openxmlformats.org/drawingml/2006/main">
            <a:off x="628650" y="33718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i="0">
                <a:solidFill>
                  <a:srgbClr val="A92C32"/>
                </a:solidFill>
                <a:latin typeface="Aptos Mono"/>
                <a:ea typeface="Aptos Mono"/>
                <a:cs typeface="Aptos Mono"/>
              </a:defRPr>
            </a:pPr>
            <a:r>
              <a:rPr sz="1875" b="1" i="0">
                <a:solidFill>
                  <a:srgbClr val="A92C32"/>
                </a:solidFill>
                <a:latin typeface="Aptos Mono"/>
                <a:ea typeface="Aptos Mono"/>
                <a:cs typeface="Aptos Mono"/>
              </a:rPr>
              <a:t>&lt;script&gt;alert(1)&lt;/script&gt;</a:t>
            </a:r>
          </a:p>
        </p:txBody>
      </p:sp>
      <p:sp>
        <p:nvSpPr>
          <p:cNvPr id="8" name="">
            <a:extLst xmlns:a="http://schemas.openxmlformats.org/drawingml/2006/main">
              <a:ext uri="{FF2B5EF4-FFF2-40B4-BE49-F238E27FC236}">
                <a16:creationId xmlns:a16="http://schemas.microsoft.com/office/drawing/2014/main" id="{9628D34F-3B41-47B7-A008-FFE22DE2D5E8}"/>
              </a:ext>
            </a:extLst>
          </p:cNvPr>
          <p:cNvSpPr>
            <a:spLocks xmlns:a="http://schemas.openxmlformats.org/drawingml/2006/main" noGrp="1"/>
          </p:cNvSpPr>
          <p:nvPr/>
        </p:nvSpPr>
        <p:spPr>
          <a:xfrm xmlns:a="http://schemas.openxmlformats.org/drawingml/2006/main">
            <a:off x="400050" y="4324350"/>
            <a:ext cx="52387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202824"/>
                </a:solidFill>
                <a:latin typeface="Aptos"/>
                <a:ea typeface="Aptos"/>
                <a:cs typeface="Aptos"/>
              </a:defRPr>
            </a:pPr>
            <a:r>
              <a:rPr sz="1725" b="0" i="0">
                <a:solidFill>
                  <a:srgbClr val="202824"/>
                </a:solidFill>
                <a:latin typeface="Aptos"/>
                <a:ea typeface="Aptos"/>
                <a:cs typeface="Aptos"/>
              </a:rPr>
              <a:t>The payload becomes executable content and reveals the challenge flag. In a real application, the same flaw could run script in another user's browser.</a:t>
            </a:r>
          </a:p>
        </p:txBody>
      </p:sp>
      <p:sp>
        <p:nvSpPr>
          <p:cNvPr id="9" name="">
            <a:extLst xmlns:a="http://schemas.openxmlformats.org/drawingml/2006/main">
              <a:ext uri="{FF2B5EF4-FFF2-40B4-BE49-F238E27FC236}">
                <a16:creationId xmlns:a16="http://schemas.microsoft.com/office/drawing/2014/main" id="{63D68D19-967C-4014-98C0-9FAD9F63C52A}"/>
              </a:ext>
            </a:extLst>
          </p:cNvPr>
          <p:cNvSpPr>
            <a:spLocks xmlns:a="http://schemas.openxmlformats.org/drawingml/2006/main" noGrp="1"/>
          </p:cNvSpPr>
          <p:nvPr/>
        </p:nvSpPr>
        <p:spPr>
          <a:xfrm xmlns:a="http://schemas.openxmlformats.org/drawingml/2006/main">
            <a:off x="6267450" y="1238250"/>
            <a:ext cx="5543550" cy="476250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9525">
            <a:solidFill>
              <a:srgbClr val="D8D3C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2fe78d87c9e4ff7"/>
          <a:stretch xmlns:a="http://schemas.openxmlformats.org/drawingml/2006/main"/>
        </p:blipFill>
        <p:spPr>
          <a:xfrm xmlns:a="http://schemas.openxmlformats.org/drawingml/2006/main">
            <a:off x="6343650" y="2103239"/>
            <a:ext cx="5391150" cy="3032522"/>
          </a:xfrm>
          <a:prstGeom xmlns:a="http://schemas.openxmlformats.org/drawingml/2006/main" prst="roundRect">
            <a:avLst>
              <a:gd name="adj" fmla="val 2479"/>
            </a:avLst>
          </a:prstGeom>
        </p:spPr>
      </p:pic>
    </p:spTree>
    <p:extLst>
      <p:ext uri="{BB962C8B-B14F-4D97-AF65-F5344CB8AC3E}">
        <p14:creationId xmlns:p14="http://schemas.microsoft.com/office/powerpoint/2010/main" val="1690595318"/>
      </p:ext>
    </p:extLst>
  </p:cSld>
</p:sld>
</file>

<file path=ppt/slides/slide5.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DE907FC-10C9-4077-BAA4-2A93F6A3C0AF}"/>
              </a:ext>
            </a:extLst>
          </p:cNvPr>
          <p:cNvSpPr>
            <a:spLocks xmlns:a="http://schemas.openxmlformats.org/drawingml/2006/main" noGrp="1"/>
          </p:cNvSpPr>
          <p:nvPr/>
        </p:nvSpPr>
        <p:spPr>
          <a:xfrm xmlns:a="http://schemas.openxmlformats.org/drawingml/2006/main">
            <a:off x="400050" y="3238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i="0">
                <a:solidFill>
                  <a:srgbClr val="19362D"/>
                </a:solidFill>
                <a:latin typeface="Aptos"/>
                <a:ea typeface="Aptos"/>
                <a:cs typeface="Aptos"/>
              </a:defRPr>
            </a:pPr>
            <a:r>
              <a:rPr sz="2925" b="1" i="0">
                <a:solidFill>
                  <a:srgbClr val="19362D"/>
                </a:solidFill>
                <a:latin typeface="Aptos"/>
                <a:ea typeface="Aptos"/>
                <a:cs typeface="Aptos"/>
              </a:rPr>
              <a:t>Attack story: SQL injection</a:t>
            </a:r>
          </a:p>
        </p:txBody>
      </p:sp>
      <p:sp>
        <p:nvSpPr>
          <p:cNvPr id="2" name="">
            <a:extLst xmlns:a="http://schemas.openxmlformats.org/drawingml/2006/main">
              <a:ext uri="{FF2B5EF4-FFF2-40B4-BE49-F238E27FC236}">
                <a16:creationId xmlns:a16="http://schemas.microsoft.com/office/drawing/2014/main" id="{96D9E0F0-66FA-4E43-A28E-225DA8A8AF8A}"/>
              </a:ext>
            </a:extLst>
          </p:cNvPr>
          <p:cNvSpPr>
            <a:spLocks xmlns:a="http://schemas.openxmlformats.org/drawingml/2006/main" noGrp="1"/>
          </p:cNvSpPr>
          <p:nvPr/>
        </p:nvSpPr>
        <p:spPr>
          <a:xfrm xmlns:a="http://schemas.openxmlformats.org/drawingml/2006/main">
            <a:off x="400050" y="1066800"/>
            <a:ext cx="876300" cy="47625"/>
          </a:xfrm>
          <a:prstGeom xmlns:a="http://schemas.openxmlformats.org/drawingml/2006/main" prst="rect">
            <a:avLst/>
          </a:prstGeom>
          <a:solidFill xmlns:a="http://schemas.openxmlformats.org/drawingml/2006/main">
            <a:srgbClr val="9A461C"/>
          </a:solidFill>
          <a:ln xmlns:a="http://schemas.openxmlformats.org/drawingml/2006/main" w="0">
            <a:solidFill>
              <a:srgbClr val="9A461C"/>
            </a:solidFill>
            <a:prstDash val="solid"/>
          </a:ln>
        </p:spPr>
      </p:sp>
      <p:sp>
        <p:nvSpPr>
          <p:cNvPr id="3" name="">
            <a:extLst xmlns:a="http://schemas.openxmlformats.org/drawingml/2006/main">
              <a:ext uri="{FF2B5EF4-FFF2-40B4-BE49-F238E27FC236}">
                <a16:creationId xmlns:a16="http://schemas.microsoft.com/office/drawing/2014/main" id="{E27D6D49-F374-4D23-99D3-6D94FA9C1A25}"/>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r">
              <a:buNone/>
              <a:defRPr sz="975" b="0" i="0">
                <a:solidFill>
                  <a:srgbClr val="6A716D"/>
                </a:solidFill>
                <a:latin typeface="Aptos"/>
                <a:ea typeface="Aptos"/>
                <a:cs typeface="Aptos"/>
              </a:defRPr>
            </a:pPr>
            <a:r>
              <a:rPr sz="975" b="0" i="0">
                <a:solidFill>
                  <a:srgbClr val="6A716D"/>
                </a:solidFill>
                <a:latin typeface="Aptos"/>
                <a:ea typeface="Aptos"/>
                <a:cs typeface="Aptos"/>
              </a:rPr>
              <a:t>05</a:t>
            </a:r>
          </a:p>
        </p:txBody>
      </p:sp>
      <p:sp>
        <p:nvSpPr>
          <p:cNvPr id="4" name="">
            <a:extLst xmlns:a="http://schemas.openxmlformats.org/drawingml/2006/main">
              <a:ext uri="{FF2B5EF4-FFF2-40B4-BE49-F238E27FC236}">
                <a16:creationId xmlns:a16="http://schemas.microsoft.com/office/drawing/2014/main" id="{1A162FDF-95DD-4D62-9386-D73190DE4F5E}"/>
              </a:ext>
            </a:extLst>
          </p:cNvPr>
          <p:cNvSpPr>
            <a:spLocks xmlns:a="http://schemas.openxmlformats.org/drawingml/2006/main" noGrp="1"/>
          </p:cNvSpPr>
          <p:nvPr/>
        </p:nvSpPr>
        <p:spPr>
          <a:xfrm xmlns:a="http://schemas.openxmlformats.org/drawingml/2006/main">
            <a:off x="400050" y="161925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1" i="0">
                <a:solidFill>
                  <a:srgbClr val="9A461C"/>
                </a:solidFill>
                <a:latin typeface="Aptos"/>
                <a:ea typeface="Aptos"/>
                <a:cs typeface="Aptos"/>
              </a:defRPr>
            </a:pPr>
            <a:r>
              <a:rPr sz="1650" b="1" i="0">
                <a:solidFill>
                  <a:srgbClr val="9A461C"/>
                </a:solidFill>
                <a:latin typeface="Aptos"/>
                <a:ea typeface="Aptos"/>
                <a:cs typeface="Aptos"/>
              </a:rPr>
              <a:t>Data became query logic</a:t>
            </a:r>
          </a:p>
        </p:txBody>
      </p:sp>
      <p:sp>
        <p:nvSpPr>
          <p:cNvPr id="5" name="">
            <a:extLst xmlns:a="http://schemas.openxmlformats.org/drawingml/2006/main">
              <a:ext uri="{FF2B5EF4-FFF2-40B4-BE49-F238E27FC236}">
                <a16:creationId xmlns:a16="http://schemas.microsoft.com/office/drawing/2014/main" id="{809964C7-7D63-4107-8971-A4596AB29AC4}"/>
              </a:ext>
            </a:extLst>
          </p:cNvPr>
          <p:cNvSpPr>
            <a:spLocks xmlns:a="http://schemas.openxmlformats.org/drawingml/2006/main" noGrp="1"/>
          </p:cNvSpPr>
          <p:nvPr/>
        </p:nvSpPr>
        <p:spPr>
          <a:xfrm xmlns:a="http://schemas.openxmlformats.org/drawingml/2006/main">
            <a:off x="400050" y="2057400"/>
            <a:ext cx="5238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75" b="1" i="0">
                <a:solidFill>
                  <a:srgbClr val="202824"/>
                </a:solidFill>
                <a:latin typeface="Aptos"/>
                <a:ea typeface="Aptos"/>
                <a:cs typeface="Aptos"/>
              </a:defRPr>
            </a:pPr>
            <a:r>
              <a:rPr sz="2175" b="1" i="0">
                <a:solidFill>
                  <a:srgbClr val="202824"/>
                </a:solidFill>
                <a:latin typeface="Aptos"/>
                <a:ea typeface="Aptos"/>
                <a:cs typeface="Aptos"/>
              </a:rPr>
              <a:t>A login string is concatenated into SQL, so input can change the WHERE clause.</a:t>
            </a:r>
          </a:p>
        </p:txBody>
      </p:sp>
      <p:sp>
        <p:nvSpPr>
          <p:cNvPr id="6" name="">
            <a:extLst xmlns:a="http://schemas.openxmlformats.org/drawingml/2006/main">
              <a:ext uri="{FF2B5EF4-FFF2-40B4-BE49-F238E27FC236}">
                <a16:creationId xmlns:a16="http://schemas.microsoft.com/office/drawing/2014/main" id="{93F79422-A66E-40FC-B307-AE67CC62EF0C}"/>
              </a:ext>
            </a:extLst>
          </p:cNvPr>
          <p:cNvSpPr>
            <a:spLocks xmlns:a="http://schemas.openxmlformats.org/drawingml/2006/main" noGrp="1"/>
          </p:cNvSpPr>
          <p:nvPr/>
        </p:nvSpPr>
        <p:spPr>
          <a:xfrm xmlns:a="http://schemas.openxmlformats.org/drawingml/2006/main">
            <a:off x="400050" y="3181350"/>
            <a:ext cx="5219700" cy="838200"/>
          </a:xfrm>
          <a:prstGeom xmlns:a="http://schemas.openxmlformats.org/drawingml/2006/main" prst="roundRect">
            <a:avLst>
              <a:gd name="adj" fmla="val 18182"/>
            </a:avLst>
          </a:prstGeom>
          <a:solidFill xmlns:a="http://schemas.openxmlformats.org/drawingml/2006/main">
            <a:srgbClr val="EAF2F4"/>
          </a:solidFill>
          <a:ln xmlns:a="http://schemas.openxmlformats.org/drawingml/2006/main" w="9525">
            <a:solidFill>
              <a:srgbClr val="B8C9CE"/>
            </a:solidFill>
            <a:prstDash val="solid"/>
          </a:ln>
        </p:spPr>
      </p:sp>
      <p:sp>
        <p:nvSpPr>
          <p:cNvPr id="7" name="">
            <a:extLst xmlns:a="http://schemas.openxmlformats.org/drawingml/2006/main">
              <a:ext uri="{FF2B5EF4-FFF2-40B4-BE49-F238E27FC236}">
                <a16:creationId xmlns:a16="http://schemas.microsoft.com/office/drawing/2014/main" id="{F1635DB4-2B9D-4FBC-B852-FDE9B54D7E16}"/>
              </a:ext>
            </a:extLst>
          </p:cNvPr>
          <p:cNvSpPr>
            <a:spLocks xmlns:a="http://schemas.openxmlformats.org/drawingml/2006/main" noGrp="1"/>
          </p:cNvSpPr>
          <p:nvPr/>
        </p:nvSpPr>
        <p:spPr>
          <a:xfrm xmlns:a="http://schemas.openxmlformats.org/drawingml/2006/main">
            <a:off x="628650" y="33718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i="0">
                <a:solidFill>
                  <a:srgbClr val="A92C32"/>
                </a:solidFill>
                <a:latin typeface="Aptos Mono"/>
                <a:ea typeface="Aptos Mono"/>
                <a:cs typeface="Aptos Mono"/>
              </a:defRPr>
            </a:pPr>
            <a:r>
              <a:rPr sz="1875" b="1" i="0">
                <a:solidFill>
                  <a:srgbClr val="A92C32"/>
                </a:solidFill>
                <a:latin typeface="Aptos Mono"/>
                <a:ea typeface="Aptos Mono"/>
                <a:cs typeface="Aptos Mono"/>
              </a:rPr>
              <a:t>admin' OR '1'='1' --</a:t>
            </a:r>
          </a:p>
        </p:txBody>
      </p:sp>
      <p:sp>
        <p:nvSpPr>
          <p:cNvPr id="8" name="">
            <a:extLst xmlns:a="http://schemas.openxmlformats.org/drawingml/2006/main">
              <a:ext uri="{FF2B5EF4-FFF2-40B4-BE49-F238E27FC236}">
                <a16:creationId xmlns:a16="http://schemas.microsoft.com/office/drawing/2014/main" id="{9628D34F-3B41-47B7-A008-FFE22DE2D5E8}"/>
              </a:ext>
            </a:extLst>
          </p:cNvPr>
          <p:cNvSpPr>
            <a:spLocks xmlns:a="http://schemas.openxmlformats.org/drawingml/2006/main" noGrp="1"/>
          </p:cNvSpPr>
          <p:nvPr/>
        </p:nvSpPr>
        <p:spPr>
          <a:xfrm xmlns:a="http://schemas.openxmlformats.org/drawingml/2006/main">
            <a:off x="400050" y="4324350"/>
            <a:ext cx="52387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202824"/>
                </a:solidFill>
                <a:latin typeface="Aptos"/>
                <a:ea typeface="Aptos"/>
                <a:cs typeface="Aptos"/>
              </a:defRPr>
            </a:pPr>
            <a:r>
              <a:rPr sz="1725" b="0" i="0">
                <a:solidFill>
                  <a:srgbClr val="202824"/>
                </a:solidFill>
                <a:latin typeface="Aptos"/>
                <a:ea typeface="Aptos"/>
                <a:cs typeface="Aptos"/>
              </a:rPr>
              <a:t>The payload bypasses authentication and reveals the flag. The same trust error appears in the cookie and file challenges: user input crosses a boundary without the correct contextual control.</a:t>
            </a:r>
          </a:p>
        </p:txBody>
      </p:sp>
      <p:sp>
        <p:nvSpPr>
          <p:cNvPr id="9" name="">
            <a:extLst xmlns:a="http://schemas.openxmlformats.org/drawingml/2006/main">
              <a:ext uri="{FF2B5EF4-FFF2-40B4-BE49-F238E27FC236}">
                <a16:creationId xmlns:a16="http://schemas.microsoft.com/office/drawing/2014/main" id="{63D68D19-967C-4014-98C0-9FAD9F63C52A}"/>
              </a:ext>
            </a:extLst>
          </p:cNvPr>
          <p:cNvSpPr>
            <a:spLocks xmlns:a="http://schemas.openxmlformats.org/drawingml/2006/main" noGrp="1"/>
          </p:cNvSpPr>
          <p:nvPr/>
        </p:nvSpPr>
        <p:spPr>
          <a:xfrm xmlns:a="http://schemas.openxmlformats.org/drawingml/2006/main">
            <a:off x="6267450" y="1238250"/>
            <a:ext cx="5543550" cy="476250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9525">
            <a:solidFill>
              <a:srgbClr val="D8D3C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265c08ec4354b22"/>
          <a:stretch xmlns:a="http://schemas.openxmlformats.org/drawingml/2006/main"/>
        </p:blipFill>
        <p:spPr>
          <a:xfrm xmlns:a="http://schemas.openxmlformats.org/drawingml/2006/main" flipH="0" flipV="0">
            <a:off x="6343650" y="2103239"/>
            <a:ext cx="5391150" cy="3032522"/>
          </a:xfrm>
          <a:prstGeom xmlns:a="http://schemas.openxmlformats.org/drawingml/2006/main" prst="roundRect">
            <a:avLst/>
          </a:prstGeom>
        </p:spPr>
      </p:pic>
    </p:spTree>
    <p:extLst>
      <p:ext uri="{BB962C8B-B14F-4D97-AF65-F5344CB8AC3E}">
        <p14:creationId xmlns:p14="http://schemas.microsoft.com/office/powerpoint/2010/main" val="1690595318"/>
      </p:ext>
    </p:extLst>
  </p:cSld>
</p:sld>
</file>

<file path=ppt/slides/slide6.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2FE46F3-6B86-42D1-B53D-FFAA0AF5FEE1}"/>
              </a:ext>
            </a:extLst>
          </p:cNvPr>
          <p:cNvSpPr>
            <a:spLocks xmlns:a="http://schemas.openxmlformats.org/drawingml/2006/main" noGrp="1"/>
          </p:cNvSpPr>
          <p:nvPr/>
        </p:nvSpPr>
        <p:spPr>
          <a:xfrm xmlns:a="http://schemas.openxmlformats.org/drawingml/2006/main">
            <a:off x="400050" y="3238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i="0">
                <a:solidFill>
                  <a:srgbClr val="19362D"/>
                </a:solidFill>
                <a:latin typeface="Aptos"/>
                <a:ea typeface="Aptos"/>
                <a:cs typeface="Aptos"/>
              </a:defRPr>
            </a:pPr>
            <a:r>
              <a:rPr sz="2925" b="1" i="0">
                <a:solidFill>
                  <a:srgbClr val="19362D"/>
                </a:solidFill>
                <a:latin typeface="Aptos"/>
                <a:ea typeface="Aptos"/>
                <a:cs typeface="Aptos"/>
              </a:rPr>
              <a:t>From vulnerable behaviour to secure design</a:t>
            </a:r>
          </a:p>
        </p:txBody>
      </p:sp>
      <p:sp>
        <p:nvSpPr>
          <p:cNvPr id="2" name="">
            <a:extLst xmlns:a="http://schemas.openxmlformats.org/drawingml/2006/main">
              <a:ext uri="{FF2B5EF4-FFF2-40B4-BE49-F238E27FC236}">
                <a16:creationId xmlns:a16="http://schemas.microsoft.com/office/drawing/2014/main" id="{8831CEE0-ED23-4847-B59B-F5F6F80D435B}"/>
              </a:ext>
            </a:extLst>
          </p:cNvPr>
          <p:cNvSpPr>
            <a:spLocks xmlns:a="http://schemas.openxmlformats.org/drawingml/2006/main" noGrp="1"/>
          </p:cNvSpPr>
          <p:nvPr/>
        </p:nvSpPr>
        <p:spPr>
          <a:xfrm xmlns:a="http://schemas.openxmlformats.org/drawingml/2006/main">
            <a:off x="400050" y="1066800"/>
            <a:ext cx="876300" cy="47625"/>
          </a:xfrm>
          <a:prstGeom xmlns:a="http://schemas.openxmlformats.org/drawingml/2006/main" prst="rect">
            <a:avLst/>
          </a:prstGeom>
          <a:solidFill xmlns:a="http://schemas.openxmlformats.org/drawingml/2006/main">
            <a:srgbClr val="9A461C"/>
          </a:solidFill>
          <a:ln xmlns:a="http://schemas.openxmlformats.org/drawingml/2006/main" w="0">
            <a:solidFill>
              <a:srgbClr val="9A461C"/>
            </a:solidFill>
            <a:prstDash val="solid"/>
          </a:ln>
        </p:spPr>
      </p:sp>
      <p:sp>
        <p:nvSpPr>
          <p:cNvPr id="3" name="">
            <a:extLst xmlns:a="http://schemas.openxmlformats.org/drawingml/2006/main">
              <a:ext uri="{FF2B5EF4-FFF2-40B4-BE49-F238E27FC236}">
                <a16:creationId xmlns:a16="http://schemas.microsoft.com/office/drawing/2014/main" id="{1B0E5940-9EC5-4302-BDC5-70A4B23D989A}"/>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r">
              <a:buNone/>
              <a:defRPr sz="975" b="0" i="0">
                <a:solidFill>
                  <a:srgbClr val="6A716D"/>
                </a:solidFill>
                <a:latin typeface="Aptos"/>
                <a:ea typeface="Aptos"/>
                <a:cs typeface="Aptos"/>
              </a:defRPr>
            </a:pPr>
            <a:r>
              <a:rPr sz="975" b="0" i="0">
                <a:solidFill>
                  <a:srgbClr val="6A716D"/>
                </a:solidFill>
                <a:latin typeface="Aptos"/>
                <a:ea typeface="Aptos"/>
                <a:cs typeface="Aptos"/>
              </a:rPr>
              <a:t>06</a:t>
            </a:r>
          </a:p>
        </p:txBody>
      </p:sp>
      <p:sp>
        <p:nvSpPr>
          <p:cNvPr id="4" name="">
            <a:extLst xmlns:a="http://schemas.openxmlformats.org/drawingml/2006/main">
              <a:ext uri="{FF2B5EF4-FFF2-40B4-BE49-F238E27FC236}">
                <a16:creationId xmlns:a16="http://schemas.microsoft.com/office/drawing/2014/main" id="{1270279D-E58C-4021-9C4F-5D0173E20CA6}"/>
              </a:ext>
            </a:extLst>
          </p:cNvPr>
          <p:cNvSpPr>
            <a:spLocks xmlns:a="http://schemas.openxmlformats.org/drawingml/2006/main" noGrp="1"/>
          </p:cNvSpPr>
          <p:nvPr/>
        </p:nvSpPr>
        <p:spPr>
          <a:xfrm xmlns:a="http://schemas.openxmlformats.org/drawingml/2006/main">
            <a:off x="400050" y="1257300"/>
            <a:ext cx="1104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0" i="0">
                <a:solidFill>
                  <a:srgbClr val="202824"/>
                </a:solidFill>
                <a:latin typeface="Aptos"/>
                <a:ea typeface="Aptos"/>
                <a:cs typeface="Aptos"/>
              </a:defRPr>
            </a:pPr>
            <a:r>
              <a:rPr sz="1800" b="0" i="0">
                <a:solidFill>
                  <a:srgbClr val="202824"/>
                </a:solidFill>
                <a:latin typeface="Aptos"/>
                <a:ea typeface="Aptos"/>
                <a:cs typeface="Aptos"/>
              </a:rPr>
              <a:t>The defence is context-specific: move authority to the server, encode output, constrain file access, and bind SQL parameters.</a:t>
            </a:r>
          </a:p>
        </p:txBody>
      </p:sp>
      <p:sp>
        <p:nvSpPr>
          <p:cNvPr id="5" name="">
            <a:extLst xmlns:a="http://schemas.openxmlformats.org/drawingml/2006/main">
              <a:ext uri="{FF2B5EF4-FFF2-40B4-BE49-F238E27FC236}">
                <a16:creationId xmlns:a16="http://schemas.microsoft.com/office/drawing/2014/main" id="{859CE33B-E9E3-4FF9-BA3F-8589FCFB1605}"/>
              </a:ext>
            </a:extLst>
          </p:cNvPr>
          <p:cNvSpPr>
            <a:spLocks xmlns:a="http://schemas.openxmlformats.org/drawingml/2006/main" noGrp="1"/>
          </p:cNvSpPr>
          <p:nvPr/>
        </p:nvSpPr>
        <p:spPr>
          <a:xfrm xmlns:a="http://schemas.openxmlformats.org/drawingml/2006/main">
            <a:off x="400050" y="2247900"/>
            <a:ext cx="5524500" cy="3409950"/>
          </a:xfrm>
          <a:prstGeom xmlns:a="http://schemas.openxmlformats.org/drawingml/2006/main" prst="roundRect">
            <a:avLst>
              <a:gd name="adj" fmla="val 4469"/>
            </a:avLst>
          </a:prstGeom>
          <a:solidFill xmlns:a="http://schemas.openxmlformats.org/drawingml/2006/main">
            <a:srgbClr val="FFFFFF"/>
          </a:solidFill>
          <a:ln xmlns:a="http://schemas.openxmlformats.org/drawingml/2006/main" w="9525">
            <a:solidFill>
              <a:srgbClr val="D8D3C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82317BE5-B8EE-4DF9-857C-21117849473D}"/>
              </a:ext>
            </a:extLst>
          </p:cNvPr>
          <p:cNvSpPr>
            <a:spLocks xmlns:a="http://schemas.openxmlformats.org/drawingml/2006/main" noGrp="1"/>
          </p:cNvSpPr>
          <p:nvPr/>
        </p:nvSpPr>
        <p:spPr>
          <a:xfrm xmlns:a="http://schemas.openxmlformats.org/drawingml/2006/main">
            <a:off x="400050" y="2247900"/>
            <a:ext cx="5524500" cy="76200"/>
          </a:xfrm>
          <a:prstGeom xmlns:a="http://schemas.openxmlformats.org/drawingml/2006/main" prst="rect">
            <a:avLst/>
          </a:prstGeom>
          <a:solidFill xmlns:a="http://schemas.openxmlformats.org/drawingml/2006/main">
            <a:srgbClr val="A92C32"/>
          </a:solidFill>
          <a:ln xmlns:a="http://schemas.openxmlformats.org/drawingml/2006/main" w="0">
            <a:solidFill>
              <a:srgbClr val="A92C32"/>
            </a:solidFill>
            <a:prstDash val="solid"/>
          </a:ln>
        </p:spPr>
      </p:sp>
      <p:sp>
        <p:nvSpPr>
          <p:cNvPr id="7" name="">
            <a:extLst xmlns:a="http://schemas.openxmlformats.org/drawingml/2006/main">
              <a:ext uri="{FF2B5EF4-FFF2-40B4-BE49-F238E27FC236}">
                <a16:creationId xmlns:a16="http://schemas.microsoft.com/office/drawing/2014/main" id="{F1B0E6D9-4CE8-48B2-821B-8FF09CCAE5E1}"/>
              </a:ext>
            </a:extLst>
          </p:cNvPr>
          <p:cNvSpPr>
            <a:spLocks xmlns:a="http://schemas.openxmlformats.org/drawingml/2006/main" noGrp="1"/>
          </p:cNvSpPr>
          <p:nvPr/>
        </p:nvSpPr>
        <p:spPr>
          <a:xfrm xmlns:a="http://schemas.openxmlformats.org/drawingml/2006/main">
            <a:off x="647700" y="2533650"/>
            <a:ext cx="5029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1" i="0">
                <a:solidFill>
                  <a:srgbClr val="A92C32"/>
                </a:solidFill>
                <a:latin typeface="Aptos"/>
                <a:ea typeface="Aptos"/>
                <a:cs typeface="Aptos"/>
              </a:defRPr>
            </a:pPr>
            <a:r>
              <a:rPr sz="1800" b="1" i="0">
                <a:solidFill>
                  <a:srgbClr val="A92C32"/>
                </a:solidFill>
                <a:latin typeface="Aptos"/>
                <a:ea typeface="Aptos"/>
                <a:cs typeface="Aptos"/>
              </a:rPr>
              <a:t>VULNERABLE DESIGN</a:t>
            </a:r>
          </a:p>
        </p:txBody>
      </p:sp>
      <p:sp>
        <p:nvSpPr>
          <p:cNvPr id="8" name="">
            <a:extLst xmlns:a="http://schemas.openxmlformats.org/drawingml/2006/main">
              <a:ext uri="{FF2B5EF4-FFF2-40B4-BE49-F238E27FC236}">
                <a16:creationId xmlns:a16="http://schemas.microsoft.com/office/drawing/2014/main" id="{7D6CA465-C118-4BCF-8A67-7B915A81CF09}"/>
              </a:ext>
            </a:extLst>
          </p:cNvPr>
          <p:cNvSpPr>
            <a:spLocks xmlns:a="http://schemas.openxmlformats.org/drawingml/2006/main" noGrp="1"/>
          </p:cNvSpPr>
          <p:nvPr/>
        </p:nvSpPr>
        <p:spPr>
          <a:xfrm xmlns:a="http://schemas.openxmlformats.org/drawingml/2006/main">
            <a:off x="647700" y="3143250"/>
            <a:ext cx="50292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 Trust the role cookie</a:t>
            </a:r>
          </a:p>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 Render input with |safe</a:t>
            </a:r>
          </a:p>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 Join an arbitrary filename</a:t>
            </a:r>
          </a:p>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 Concatenate login SQL</a:t>
            </a:r>
          </a:p>
        </p:txBody>
      </p:sp>
      <p:sp>
        <p:nvSpPr>
          <p:cNvPr id="9" name="">
            <a:extLst xmlns:a="http://schemas.openxmlformats.org/drawingml/2006/main">
              <a:ext uri="{FF2B5EF4-FFF2-40B4-BE49-F238E27FC236}">
                <a16:creationId xmlns:a16="http://schemas.microsoft.com/office/drawing/2014/main" id="{FBA6B37D-9370-40E5-A5A3-F15DE1BD48EE}"/>
              </a:ext>
            </a:extLst>
          </p:cNvPr>
          <p:cNvSpPr>
            <a:spLocks xmlns:a="http://schemas.openxmlformats.org/drawingml/2006/main" noGrp="1"/>
          </p:cNvSpPr>
          <p:nvPr/>
        </p:nvSpPr>
        <p:spPr>
          <a:xfrm xmlns:a="http://schemas.openxmlformats.org/drawingml/2006/main">
            <a:off x="6267450" y="2247900"/>
            <a:ext cx="5524500" cy="3409950"/>
          </a:xfrm>
          <a:prstGeom xmlns:a="http://schemas.openxmlformats.org/drawingml/2006/main" prst="roundRect">
            <a:avLst>
              <a:gd name="adj" fmla="val 4469"/>
            </a:avLst>
          </a:prstGeom>
          <a:solidFill xmlns:a="http://schemas.openxmlformats.org/drawingml/2006/main">
            <a:srgbClr val="FFFFFF"/>
          </a:solidFill>
          <a:ln xmlns:a="http://schemas.openxmlformats.org/drawingml/2006/main" w="9525">
            <a:solidFill>
              <a:srgbClr val="D8D3C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3DC8957C-E580-4F35-82E1-742AB6EF66FA}"/>
              </a:ext>
            </a:extLst>
          </p:cNvPr>
          <p:cNvSpPr>
            <a:spLocks xmlns:a="http://schemas.openxmlformats.org/drawingml/2006/main" noGrp="1"/>
          </p:cNvSpPr>
          <p:nvPr/>
        </p:nvSpPr>
        <p:spPr>
          <a:xfrm xmlns:a="http://schemas.openxmlformats.org/drawingml/2006/main">
            <a:off x="6267450" y="2247900"/>
            <a:ext cx="5524500" cy="76200"/>
          </a:xfrm>
          <a:prstGeom xmlns:a="http://schemas.openxmlformats.org/drawingml/2006/main" prst="rect">
            <a:avLst/>
          </a:prstGeom>
          <a:solidFill xmlns:a="http://schemas.openxmlformats.org/drawingml/2006/main">
            <a:srgbClr val="26734A"/>
          </a:solidFill>
          <a:ln xmlns:a="http://schemas.openxmlformats.org/drawingml/2006/main" w="0">
            <a:solidFill>
              <a:srgbClr val="26734A"/>
            </a:solidFill>
            <a:prstDash val="solid"/>
          </a:ln>
        </p:spPr>
      </p:sp>
      <p:sp>
        <p:nvSpPr>
          <p:cNvPr id="11" name="">
            <a:extLst xmlns:a="http://schemas.openxmlformats.org/drawingml/2006/main">
              <a:ext uri="{FF2B5EF4-FFF2-40B4-BE49-F238E27FC236}">
                <a16:creationId xmlns:a16="http://schemas.microsoft.com/office/drawing/2014/main" id="{8B129E2E-7A0F-454F-9EFA-1599CA0DE84A}"/>
              </a:ext>
            </a:extLst>
          </p:cNvPr>
          <p:cNvSpPr>
            <a:spLocks xmlns:a="http://schemas.openxmlformats.org/drawingml/2006/main" noGrp="1"/>
          </p:cNvSpPr>
          <p:nvPr/>
        </p:nvSpPr>
        <p:spPr>
          <a:xfrm xmlns:a="http://schemas.openxmlformats.org/drawingml/2006/main">
            <a:off x="6515100" y="2533650"/>
            <a:ext cx="5029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1" i="0">
                <a:solidFill>
                  <a:srgbClr val="26734A"/>
                </a:solidFill>
                <a:latin typeface="Aptos"/>
                <a:ea typeface="Aptos"/>
                <a:cs typeface="Aptos"/>
              </a:defRPr>
            </a:pPr>
            <a:r>
              <a:rPr sz="1800" b="1" i="0">
                <a:solidFill>
                  <a:srgbClr val="26734A"/>
                </a:solidFill>
                <a:latin typeface="Aptos"/>
                <a:ea typeface="Aptos"/>
                <a:cs typeface="Aptos"/>
              </a:rPr>
              <a:t>SECURE COMPARISON</a:t>
            </a:r>
          </a:p>
        </p:txBody>
      </p:sp>
      <p:sp>
        <p:nvSpPr>
          <p:cNvPr id="12" name="">
            <a:extLst xmlns:a="http://schemas.openxmlformats.org/drawingml/2006/main">
              <a:ext uri="{FF2B5EF4-FFF2-40B4-BE49-F238E27FC236}">
                <a16:creationId xmlns:a16="http://schemas.microsoft.com/office/drawing/2014/main" id="{8B015C3B-6F57-493A-8A92-E894988215E1}"/>
              </a:ext>
            </a:extLst>
          </p:cNvPr>
          <p:cNvSpPr>
            <a:spLocks xmlns:a="http://schemas.openxmlformats.org/drawingml/2006/main" noGrp="1"/>
          </p:cNvSpPr>
          <p:nvPr/>
        </p:nvSpPr>
        <p:spPr>
          <a:xfrm xmlns:a="http://schemas.openxmlformats.org/drawingml/2006/main">
            <a:off x="6515100" y="3143250"/>
            <a:ext cx="50292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 Server-side session and role lookup</a:t>
            </a:r>
          </a:p>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 HTML escaping plus restrictive CSP</a:t>
            </a:r>
          </a:p>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 Allowlisted filenames and safe base path</a:t>
            </a:r>
          </a:p>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 Parameterised SQL query</a:t>
            </a:r>
          </a:p>
        </p:txBody>
      </p:sp>
    </p:spTree>
    <p:extLst>
      <p:ext uri="{BB962C8B-B14F-4D97-AF65-F5344CB8AC3E}">
        <p14:creationId xmlns:p14="http://schemas.microsoft.com/office/powerpoint/2010/main" val="1897369671"/>
      </p:ext>
    </p:extLst>
  </p:cSld>
</p:sld>
</file>

<file path=ppt/slides/slide7.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8CE1CBC-5E70-4499-9F00-7E37313A574B}"/>
              </a:ext>
            </a:extLst>
          </p:cNvPr>
          <p:cNvSpPr>
            <a:spLocks xmlns:a="http://schemas.openxmlformats.org/drawingml/2006/main" noGrp="1"/>
          </p:cNvSpPr>
          <p:nvPr/>
        </p:nvSpPr>
        <p:spPr>
          <a:xfrm xmlns:a="http://schemas.openxmlformats.org/drawingml/2006/main">
            <a:off x="400050" y="3238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925" b="1" i="0">
                <a:solidFill>
                  <a:srgbClr val="19362D"/>
                </a:solidFill>
                <a:latin typeface="Aptos"/>
                <a:ea typeface="Aptos"/>
                <a:cs typeface="Aptos"/>
              </a:defRPr>
            </a:pPr>
            <a:r>
              <a:rPr sz="2925" b="1" i="0">
                <a:solidFill>
                  <a:srgbClr val="19362D"/>
                </a:solidFill>
                <a:latin typeface="Aptos"/>
                <a:ea typeface="Aptos"/>
                <a:cs typeface="Aptos"/>
              </a:rPr>
              <a:t>Iteration produced measurable improvements</a:t>
            </a:r>
          </a:p>
        </p:txBody>
      </p:sp>
      <p:sp>
        <p:nvSpPr>
          <p:cNvPr id="2" name="">
            <a:extLst xmlns:a="http://schemas.openxmlformats.org/drawingml/2006/main">
              <a:ext uri="{FF2B5EF4-FFF2-40B4-BE49-F238E27FC236}">
                <a16:creationId xmlns:a16="http://schemas.microsoft.com/office/drawing/2014/main" id="{C1624A34-AC48-4207-BBAC-9D6055541E8C}"/>
              </a:ext>
            </a:extLst>
          </p:cNvPr>
          <p:cNvSpPr>
            <a:spLocks xmlns:a="http://schemas.openxmlformats.org/drawingml/2006/main" noGrp="1"/>
          </p:cNvSpPr>
          <p:nvPr/>
        </p:nvSpPr>
        <p:spPr>
          <a:xfrm xmlns:a="http://schemas.openxmlformats.org/drawingml/2006/main">
            <a:off x="400050" y="1066800"/>
            <a:ext cx="876300" cy="47625"/>
          </a:xfrm>
          <a:prstGeom xmlns:a="http://schemas.openxmlformats.org/drawingml/2006/main" prst="rect">
            <a:avLst/>
          </a:prstGeom>
          <a:solidFill xmlns:a="http://schemas.openxmlformats.org/drawingml/2006/main">
            <a:srgbClr val="9A461C"/>
          </a:solidFill>
          <a:ln xmlns:a="http://schemas.openxmlformats.org/drawingml/2006/main" w="0">
            <a:solidFill>
              <a:srgbClr val="9A461C"/>
            </a:solidFill>
            <a:prstDash val="solid"/>
          </a:ln>
        </p:spPr>
      </p:sp>
      <p:sp>
        <p:nvSpPr>
          <p:cNvPr id="3" name="">
            <a:extLst xmlns:a="http://schemas.openxmlformats.org/drawingml/2006/main">
              <a:ext uri="{FF2B5EF4-FFF2-40B4-BE49-F238E27FC236}">
                <a16:creationId xmlns:a16="http://schemas.microsoft.com/office/drawing/2014/main" id="{A2EE747B-9F4D-42DE-99A3-5AD9001AA683}"/>
              </a:ext>
            </a:extLst>
          </p:cNvPr>
          <p:cNvSpPr>
            <a:spLocks xmlns:a="http://schemas.openxmlformats.org/drawingml/2006/main" noGrp="1"/>
          </p:cNvSpPr>
          <p:nvPr/>
        </p:nvSpPr>
        <p:spPr>
          <a:xfrm xmlns:a="http://schemas.openxmlformats.org/drawingml/2006/main">
            <a:off x="11277600" y="628650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r">
              <a:buNone/>
              <a:defRPr sz="975" b="0" i="0">
                <a:solidFill>
                  <a:srgbClr val="6A716D"/>
                </a:solidFill>
                <a:latin typeface="Aptos"/>
                <a:ea typeface="Aptos"/>
                <a:cs typeface="Aptos"/>
              </a:defRPr>
            </a:pPr>
            <a:r>
              <a:rPr sz="975" b="0" i="0">
                <a:solidFill>
                  <a:srgbClr val="6A716D"/>
                </a:solidFill>
                <a:latin typeface="Aptos"/>
                <a:ea typeface="Aptos"/>
                <a:cs typeface="Aptos"/>
              </a:rPr>
              <a:t>07</a:t>
            </a:r>
          </a:p>
        </p:txBody>
      </p:sp>
      <p:sp>
        <p:nvSpPr>
          <p:cNvPr id="4" name="">
            <a:extLst xmlns:a="http://schemas.openxmlformats.org/drawingml/2006/main">
              <a:ext uri="{FF2B5EF4-FFF2-40B4-BE49-F238E27FC236}">
                <a16:creationId xmlns:a16="http://schemas.microsoft.com/office/drawing/2014/main" id="{9C190C67-EDC1-45EE-A3F4-43E6B3AE1DDA}"/>
              </a:ext>
            </a:extLst>
          </p:cNvPr>
          <p:cNvSpPr>
            <a:spLocks xmlns:a="http://schemas.openxmlformats.org/drawingml/2006/main" noGrp="1"/>
          </p:cNvSpPr>
          <p:nvPr/>
        </p:nvSpPr>
        <p:spPr>
          <a:xfrm xmlns:a="http://schemas.openxmlformats.org/drawingml/2006/main">
            <a:off x="400050" y="1466850"/>
            <a:ext cx="3562350" cy="3581400"/>
          </a:xfrm>
          <a:prstGeom xmlns:a="http://schemas.openxmlformats.org/drawingml/2006/main" prst="roundRect">
            <a:avLst>
              <a:gd name="adj" fmla="val 4278"/>
            </a:avLst>
          </a:prstGeom>
          <a:solidFill xmlns:a="http://schemas.openxmlformats.org/drawingml/2006/main">
            <a:srgbClr val="FFFFFF"/>
          </a:solidFill>
          <a:ln xmlns:a="http://schemas.openxmlformats.org/drawingml/2006/main" w="9525">
            <a:solidFill>
              <a:srgbClr val="D8D3C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C666FFE3-9B2A-4FF4-8B78-E2412CB46737}"/>
              </a:ext>
            </a:extLst>
          </p:cNvPr>
          <p:cNvSpPr>
            <a:spLocks xmlns:a="http://schemas.openxmlformats.org/drawingml/2006/main" noGrp="1"/>
          </p:cNvSpPr>
          <p:nvPr/>
        </p:nvSpPr>
        <p:spPr>
          <a:xfrm xmlns:a="http://schemas.openxmlformats.org/drawingml/2006/main">
            <a:off x="400050" y="1466850"/>
            <a:ext cx="3562350" cy="76200"/>
          </a:xfrm>
          <a:prstGeom xmlns:a="http://schemas.openxmlformats.org/drawingml/2006/main" prst="rect">
            <a:avLst/>
          </a:prstGeom>
          <a:solidFill xmlns:a="http://schemas.openxmlformats.org/drawingml/2006/main">
            <a:srgbClr val="9A461C"/>
          </a:solidFill>
          <a:ln xmlns:a="http://schemas.openxmlformats.org/drawingml/2006/main" w="0">
            <a:solidFill>
              <a:srgbClr val="9A461C"/>
            </a:solidFill>
            <a:prstDash val="solid"/>
          </a:ln>
        </p:spPr>
      </p:sp>
      <p:sp>
        <p:nvSpPr>
          <p:cNvPr id="6" name="">
            <a:extLst xmlns:a="http://schemas.openxmlformats.org/drawingml/2006/main">
              <a:ext uri="{FF2B5EF4-FFF2-40B4-BE49-F238E27FC236}">
                <a16:creationId xmlns:a16="http://schemas.microsoft.com/office/drawing/2014/main" id="{58E1F010-D486-4071-9AEB-3419BAB3FED1}"/>
              </a:ext>
            </a:extLst>
          </p:cNvPr>
          <p:cNvSpPr>
            <a:spLocks xmlns:a="http://schemas.openxmlformats.org/drawingml/2006/main" noGrp="1"/>
          </p:cNvSpPr>
          <p:nvPr/>
        </p:nvSpPr>
        <p:spPr>
          <a:xfrm xmlns:a="http://schemas.openxmlformats.org/drawingml/2006/main">
            <a:off x="647700" y="1752600"/>
            <a:ext cx="3067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1" i="0">
                <a:solidFill>
                  <a:srgbClr val="9A461C"/>
                </a:solidFill>
                <a:latin typeface="Aptos"/>
                <a:ea typeface="Aptos"/>
                <a:cs typeface="Aptos"/>
              </a:defRPr>
            </a:pPr>
            <a:r>
              <a:rPr sz="1800" b="1" i="0">
                <a:solidFill>
                  <a:srgbClr val="9A461C"/>
                </a:solidFill>
                <a:latin typeface="Aptos"/>
                <a:ea typeface="Aptos"/>
                <a:cs typeface="Aptos"/>
              </a:rPr>
              <a:t>BUILD</a:t>
            </a:r>
          </a:p>
        </p:txBody>
      </p:sp>
      <p:sp>
        <p:nvSpPr>
          <p:cNvPr id="7" name="">
            <a:extLst xmlns:a="http://schemas.openxmlformats.org/drawingml/2006/main">
              <a:ext uri="{FF2B5EF4-FFF2-40B4-BE49-F238E27FC236}">
                <a16:creationId xmlns:a16="http://schemas.microsoft.com/office/drawing/2014/main" id="{6030745A-574F-43AE-8B71-67242A7A333D}"/>
              </a:ext>
            </a:extLst>
          </p:cNvPr>
          <p:cNvSpPr>
            <a:spLocks xmlns:a="http://schemas.openxmlformats.org/drawingml/2006/main" noGrp="1"/>
          </p:cNvSpPr>
          <p:nvPr/>
        </p:nvSpPr>
        <p:spPr>
          <a:xfrm xmlns:a="http://schemas.openxmlformats.org/drawingml/2006/main">
            <a:off x="647700" y="2362200"/>
            <a:ext cx="3067050" cy="2457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Four working challenges</a:t>
            </a:r>
          </a:p>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Flags and intended paths</a:t>
            </a:r>
          </a:p>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Two-level progressive hints</a:t>
            </a:r>
          </a:p>
        </p:txBody>
      </p:sp>
      <p:sp>
        <p:nvSpPr>
          <p:cNvPr id="8" name="">
            <a:extLst xmlns:a="http://schemas.openxmlformats.org/drawingml/2006/main">
              <a:ext uri="{FF2B5EF4-FFF2-40B4-BE49-F238E27FC236}">
                <a16:creationId xmlns:a16="http://schemas.microsoft.com/office/drawing/2014/main" id="{6A1E9D83-AF5D-4676-B5F4-434E12A57771}"/>
              </a:ext>
            </a:extLst>
          </p:cNvPr>
          <p:cNvSpPr>
            <a:spLocks xmlns:a="http://schemas.openxmlformats.org/drawingml/2006/main" noGrp="1"/>
          </p:cNvSpPr>
          <p:nvPr/>
        </p:nvSpPr>
        <p:spPr>
          <a:xfrm xmlns:a="http://schemas.openxmlformats.org/drawingml/2006/main">
            <a:off x="4314825" y="1466850"/>
            <a:ext cx="3562350" cy="3581400"/>
          </a:xfrm>
          <a:prstGeom xmlns:a="http://schemas.openxmlformats.org/drawingml/2006/main" prst="roundRect">
            <a:avLst>
              <a:gd name="adj" fmla="val 4278"/>
            </a:avLst>
          </a:prstGeom>
          <a:solidFill xmlns:a="http://schemas.openxmlformats.org/drawingml/2006/main">
            <a:srgbClr val="FFFFFF"/>
          </a:solidFill>
          <a:ln xmlns:a="http://schemas.openxmlformats.org/drawingml/2006/main" w="9525">
            <a:solidFill>
              <a:srgbClr val="D8D3C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512B4ECE-60E3-4E1B-8413-9BCF16072BC3}"/>
              </a:ext>
            </a:extLst>
          </p:cNvPr>
          <p:cNvSpPr>
            <a:spLocks xmlns:a="http://schemas.openxmlformats.org/drawingml/2006/main" noGrp="1"/>
          </p:cNvSpPr>
          <p:nvPr/>
        </p:nvSpPr>
        <p:spPr>
          <a:xfrm xmlns:a="http://schemas.openxmlformats.org/drawingml/2006/main">
            <a:off x="4314825" y="1466850"/>
            <a:ext cx="3562350" cy="76200"/>
          </a:xfrm>
          <a:prstGeom xmlns:a="http://schemas.openxmlformats.org/drawingml/2006/main" prst="rect">
            <a:avLst/>
          </a:prstGeom>
          <a:solidFill xmlns:a="http://schemas.openxmlformats.org/drawingml/2006/main">
            <a:srgbClr val="19362D"/>
          </a:solidFill>
          <a:ln xmlns:a="http://schemas.openxmlformats.org/drawingml/2006/main" w="0">
            <a:solidFill>
              <a:srgbClr val="19362D"/>
            </a:solidFill>
            <a:prstDash val="solid"/>
          </a:ln>
        </p:spPr>
      </p:sp>
      <p:sp>
        <p:nvSpPr>
          <p:cNvPr id="10" name="">
            <a:extLst xmlns:a="http://schemas.openxmlformats.org/drawingml/2006/main">
              <a:ext uri="{FF2B5EF4-FFF2-40B4-BE49-F238E27FC236}">
                <a16:creationId xmlns:a16="http://schemas.microsoft.com/office/drawing/2014/main" id="{029E2438-8C73-4D33-B737-8E71CFBACFAE}"/>
              </a:ext>
            </a:extLst>
          </p:cNvPr>
          <p:cNvSpPr>
            <a:spLocks xmlns:a="http://schemas.openxmlformats.org/drawingml/2006/main" noGrp="1"/>
          </p:cNvSpPr>
          <p:nvPr/>
        </p:nvSpPr>
        <p:spPr>
          <a:xfrm xmlns:a="http://schemas.openxmlformats.org/drawingml/2006/main">
            <a:off x="4562475" y="1752600"/>
            <a:ext cx="3067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1" i="0">
                <a:solidFill>
                  <a:srgbClr val="19362D"/>
                </a:solidFill>
                <a:latin typeface="Aptos"/>
                <a:ea typeface="Aptos"/>
                <a:cs typeface="Aptos"/>
              </a:defRPr>
            </a:pPr>
            <a:r>
              <a:rPr sz="1800" b="1" i="0">
                <a:solidFill>
                  <a:srgbClr val="19362D"/>
                </a:solidFill>
                <a:latin typeface="Aptos"/>
                <a:ea typeface="Aptos"/>
                <a:cs typeface="Aptos"/>
              </a:rPr>
              <a:t>USER TEST</a:t>
            </a:r>
          </a:p>
        </p:txBody>
      </p:sp>
      <p:sp>
        <p:nvSpPr>
          <p:cNvPr id="11" name="">
            <a:extLst xmlns:a="http://schemas.openxmlformats.org/drawingml/2006/main">
              <a:ext uri="{FF2B5EF4-FFF2-40B4-BE49-F238E27FC236}">
                <a16:creationId xmlns:a16="http://schemas.microsoft.com/office/drawing/2014/main" id="{DAA4E873-E543-4FD4-80FF-25D68A9C8596}"/>
              </a:ext>
            </a:extLst>
          </p:cNvPr>
          <p:cNvSpPr>
            <a:spLocks xmlns:a="http://schemas.openxmlformats.org/drawingml/2006/main" noGrp="1"/>
          </p:cNvSpPr>
          <p:nvPr/>
        </p:nvSpPr>
        <p:spPr>
          <a:xfrm xmlns:a="http://schemas.openxmlformats.org/drawingml/2006/main">
            <a:off x="4562475" y="2362200"/>
            <a:ext cx="3067050" cy="2457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Two participant sessions</a:t>
            </a:r>
          </a:p>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Cookie instructions clarified</a:t>
            </a:r>
          </a:p>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Progress tracker and defence unlocks added</a:t>
            </a:r>
          </a:p>
        </p:txBody>
      </p:sp>
      <p:sp>
        <p:nvSpPr>
          <p:cNvPr id="12" name="">
            <a:extLst xmlns:a="http://schemas.openxmlformats.org/drawingml/2006/main">
              <a:ext uri="{FF2B5EF4-FFF2-40B4-BE49-F238E27FC236}">
                <a16:creationId xmlns:a16="http://schemas.microsoft.com/office/drawing/2014/main" id="{102B0D12-1954-4256-8D23-11AE7371322F}"/>
              </a:ext>
            </a:extLst>
          </p:cNvPr>
          <p:cNvSpPr>
            <a:spLocks xmlns:a="http://schemas.openxmlformats.org/drawingml/2006/main" noGrp="1"/>
          </p:cNvSpPr>
          <p:nvPr/>
        </p:nvSpPr>
        <p:spPr>
          <a:xfrm xmlns:a="http://schemas.openxmlformats.org/drawingml/2006/main">
            <a:off x="8229600" y="1466850"/>
            <a:ext cx="3562350" cy="3581400"/>
          </a:xfrm>
          <a:prstGeom xmlns:a="http://schemas.openxmlformats.org/drawingml/2006/main" prst="roundRect">
            <a:avLst>
              <a:gd name="adj" fmla="val 4278"/>
            </a:avLst>
          </a:prstGeom>
          <a:solidFill xmlns:a="http://schemas.openxmlformats.org/drawingml/2006/main">
            <a:srgbClr val="FFFFFF"/>
          </a:solidFill>
          <a:ln xmlns:a="http://schemas.openxmlformats.org/drawingml/2006/main" w="9525">
            <a:solidFill>
              <a:srgbClr val="D8D3C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DE037DAB-DBC1-4110-B37D-4A4320507C5B}"/>
              </a:ext>
            </a:extLst>
          </p:cNvPr>
          <p:cNvSpPr>
            <a:spLocks xmlns:a="http://schemas.openxmlformats.org/drawingml/2006/main" noGrp="1"/>
          </p:cNvSpPr>
          <p:nvPr/>
        </p:nvSpPr>
        <p:spPr>
          <a:xfrm xmlns:a="http://schemas.openxmlformats.org/drawingml/2006/main">
            <a:off x="8229600" y="1466850"/>
            <a:ext cx="3562350" cy="76200"/>
          </a:xfrm>
          <a:prstGeom xmlns:a="http://schemas.openxmlformats.org/drawingml/2006/main" prst="rect">
            <a:avLst/>
          </a:prstGeom>
          <a:solidFill xmlns:a="http://schemas.openxmlformats.org/drawingml/2006/main">
            <a:srgbClr val="26734A"/>
          </a:solidFill>
          <a:ln xmlns:a="http://schemas.openxmlformats.org/drawingml/2006/main" w="0">
            <a:solidFill>
              <a:srgbClr val="26734A"/>
            </a:solidFill>
            <a:prstDash val="solid"/>
          </a:ln>
        </p:spPr>
      </p:sp>
      <p:sp>
        <p:nvSpPr>
          <p:cNvPr id="14" name="">
            <a:extLst xmlns:a="http://schemas.openxmlformats.org/drawingml/2006/main">
              <a:ext uri="{FF2B5EF4-FFF2-40B4-BE49-F238E27FC236}">
                <a16:creationId xmlns:a16="http://schemas.microsoft.com/office/drawing/2014/main" id="{6F712DA4-A496-4F93-A1E1-588553898223}"/>
              </a:ext>
            </a:extLst>
          </p:cNvPr>
          <p:cNvSpPr>
            <a:spLocks xmlns:a="http://schemas.openxmlformats.org/drawingml/2006/main" noGrp="1"/>
          </p:cNvSpPr>
          <p:nvPr/>
        </p:nvSpPr>
        <p:spPr>
          <a:xfrm xmlns:a="http://schemas.openxmlformats.org/drawingml/2006/main">
            <a:off x="8477250" y="1752600"/>
            <a:ext cx="3067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1" i="0">
                <a:solidFill>
                  <a:srgbClr val="26734A"/>
                </a:solidFill>
                <a:latin typeface="Aptos"/>
                <a:ea typeface="Aptos"/>
                <a:cs typeface="Aptos"/>
              </a:defRPr>
            </a:pPr>
            <a:r>
              <a:rPr sz="1800" b="1" i="0">
                <a:solidFill>
                  <a:srgbClr val="26734A"/>
                </a:solidFill>
                <a:latin typeface="Aptos"/>
                <a:ea typeface="Aptos"/>
                <a:cs typeface="Aptos"/>
              </a:rPr>
              <a:t>FINAL QA</a:t>
            </a:r>
          </a:p>
        </p:txBody>
      </p:sp>
      <p:sp>
        <p:nvSpPr>
          <p:cNvPr id="15" name="">
            <a:extLst xmlns:a="http://schemas.openxmlformats.org/drawingml/2006/main">
              <a:ext uri="{FF2B5EF4-FFF2-40B4-BE49-F238E27FC236}">
                <a16:creationId xmlns:a16="http://schemas.microsoft.com/office/drawing/2014/main" id="{E6DB76C2-51A0-4AFC-8C37-2106A624D32B}"/>
              </a:ext>
            </a:extLst>
          </p:cNvPr>
          <p:cNvSpPr>
            <a:spLocks xmlns:a="http://schemas.openxmlformats.org/drawingml/2006/main" noGrp="1"/>
          </p:cNvSpPr>
          <p:nvPr/>
        </p:nvSpPr>
        <p:spPr>
          <a:xfrm xmlns:a="http://schemas.openxmlformats.org/drawingml/2006/main">
            <a:off x="8477250" y="2362200"/>
            <a:ext cx="3067050" cy="2457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11 automated tests passed</a:t>
            </a:r>
          </a:p>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Direct secure-route locking</a:t>
            </a:r>
          </a:p>
          <a:p xmlns:a="http://schemas.openxmlformats.org/drawingml/2006/main">
            <a:pPr algn="l">
              <a:buNone/>
              <a:defRPr sz="1650" b="0" i="0">
                <a:solidFill>
                  <a:srgbClr val="202824"/>
                </a:solidFill>
                <a:latin typeface="Aptos"/>
                <a:ea typeface="Aptos"/>
                <a:cs typeface="Aptos"/>
              </a:defRPr>
            </a:pPr>
            <a:r>
              <a:rPr sz="1650" b="0" i="0">
                <a:solidFill>
                  <a:srgbClr val="202824"/>
                </a:solidFill>
                <a:latin typeface="Aptos"/>
                <a:ea typeface="Aptos"/>
                <a:cs typeface="Aptos"/>
              </a:rPr>
              <a:t>CSP-compatible shared stylesheet</a:t>
            </a:r>
          </a:p>
        </p:txBody>
      </p:sp>
      <p:sp>
        <p:nvSpPr>
          <p:cNvPr id="16" name="">
            <a:extLst xmlns:a="http://schemas.openxmlformats.org/drawingml/2006/main">
              <a:ext uri="{FF2B5EF4-FFF2-40B4-BE49-F238E27FC236}">
                <a16:creationId xmlns:a16="http://schemas.microsoft.com/office/drawing/2014/main" id="{48055497-A855-4248-9D91-28EA032D1DFF}"/>
              </a:ext>
            </a:extLst>
          </p:cNvPr>
          <p:cNvSpPr>
            <a:spLocks xmlns:a="http://schemas.openxmlformats.org/drawingml/2006/main" noGrp="1"/>
          </p:cNvSpPr>
          <p:nvPr/>
        </p:nvSpPr>
        <p:spPr>
          <a:xfrm xmlns:a="http://schemas.openxmlformats.org/drawingml/2006/main">
            <a:off x="400050" y="5381625"/>
            <a:ext cx="11391900" cy="28575"/>
          </a:xfrm>
          <a:prstGeom xmlns:a="http://schemas.openxmlformats.org/drawingml/2006/main" prst="rect">
            <a:avLst/>
          </a:prstGeom>
          <a:solidFill xmlns:a="http://schemas.openxmlformats.org/drawingml/2006/main">
            <a:srgbClr val="D8D3C5"/>
          </a:solidFill>
          <a:ln xmlns:a="http://schemas.openxmlformats.org/drawingml/2006/main" w="0">
            <a:solidFill>
              <a:srgbClr val="D8D3C5"/>
            </a:solidFill>
            <a:prstDash val="solid"/>
          </a:ln>
        </p:spPr>
      </p:sp>
      <p:sp>
        <p:nvSpPr>
          <p:cNvPr id="17" name="">
            <a:extLst xmlns:a="http://schemas.openxmlformats.org/drawingml/2006/main">
              <a:ext uri="{FF2B5EF4-FFF2-40B4-BE49-F238E27FC236}">
                <a16:creationId xmlns:a16="http://schemas.microsoft.com/office/drawing/2014/main" id="{59D83C20-35D8-4677-A3F0-B030A7CCD5C6}"/>
              </a:ext>
            </a:extLst>
          </p:cNvPr>
          <p:cNvSpPr>
            <a:spLocks xmlns:a="http://schemas.openxmlformats.org/drawingml/2006/main" noGrp="1"/>
          </p:cNvSpPr>
          <p:nvPr/>
        </p:nvSpPr>
        <p:spPr>
          <a:xfrm xmlns:a="http://schemas.openxmlformats.org/drawingml/2006/main">
            <a:off x="400050" y="5305425"/>
            <a:ext cx="180975" cy="180975"/>
          </a:xfrm>
          <a:prstGeom xmlns:a="http://schemas.openxmlformats.org/drawingml/2006/main" prst="ellipse">
            <a:avLst/>
          </a:prstGeom>
          <a:solidFill xmlns:a="http://schemas.openxmlformats.org/drawingml/2006/main">
            <a:srgbClr val="19362D"/>
          </a:solidFill>
          <a:ln xmlns:a="http://schemas.openxmlformats.org/drawingml/2006/main" w="0">
            <a:solidFill>
              <a:srgbClr val="19362D"/>
            </a:solidFill>
            <a:prstDash val="solid"/>
          </a:ln>
        </p:spPr>
      </p:sp>
      <p:sp>
        <p:nvSpPr>
          <p:cNvPr id="18" name="">
            <a:extLst xmlns:a="http://schemas.openxmlformats.org/drawingml/2006/main">
              <a:ext uri="{FF2B5EF4-FFF2-40B4-BE49-F238E27FC236}">
                <a16:creationId xmlns:a16="http://schemas.microsoft.com/office/drawing/2014/main" id="{BA94E67C-9C62-4B00-924E-66681B886184}"/>
              </a:ext>
            </a:extLst>
          </p:cNvPr>
          <p:cNvSpPr>
            <a:spLocks xmlns:a="http://schemas.openxmlformats.org/drawingml/2006/main" noGrp="1"/>
          </p:cNvSpPr>
          <p:nvPr/>
        </p:nvSpPr>
        <p:spPr>
          <a:xfrm xmlns:a="http://schemas.openxmlformats.org/drawingml/2006/main">
            <a:off x="4314825" y="5305425"/>
            <a:ext cx="180975" cy="180975"/>
          </a:xfrm>
          <a:prstGeom xmlns:a="http://schemas.openxmlformats.org/drawingml/2006/main" prst="ellipse">
            <a:avLst/>
          </a:prstGeom>
          <a:solidFill xmlns:a="http://schemas.openxmlformats.org/drawingml/2006/main">
            <a:srgbClr val="19362D"/>
          </a:solidFill>
          <a:ln xmlns:a="http://schemas.openxmlformats.org/drawingml/2006/main" w="0">
            <a:solidFill>
              <a:srgbClr val="19362D"/>
            </a:solidFill>
            <a:prstDash val="solid"/>
          </a:ln>
        </p:spPr>
      </p:sp>
      <p:sp>
        <p:nvSpPr>
          <p:cNvPr id="19" name="">
            <a:extLst xmlns:a="http://schemas.openxmlformats.org/drawingml/2006/main">
              <a:ext uri="{FF2B5EF4-FFF2-40B4-BE49-F238E27FC236}">
                <a16:creationId xmlns:a16="http://schemas.microsoft.com/office/drawing/2014/main" id="{90DAAA86-4D5A-496E-90DC-31C9F134DFF2}"/>
              </a:ext>
            </a:extLst>
          </p:cNvPr>
          <p:cNvSpPr>
            <a:spLocks xmlns:a="http://schemas.openxmlformats.org/drawingml/2006/main" noGrp="1"/>
          </p:cNvSpPr>
          <p:nvPr/>
        </p:nvSpPr>
        <p:spPr>
          <a:xfrm xmlns:a="http://schemas.openxmlformats.org/drawingml/2006/main">
            <a:off x="8229600" y="5305425"/>
            <a:ext cx="180975" cy="180975"/>
          </a:xfrm>
          <a:prstGeom xmlns:a="http://schemas.openxmlformats.org/drawingml/2006/main" prst="ellipse">
            <a:avLst/>
          </a:prstGeom>
          <a:solidFill xmlns:a="http://schemas.openxmlformats.org/drawingml/2006/main">
            <a:srgbClr val="19362D"/>
          </a:solidFill>
          <a:ln xmlns:a="http://schemas.openxmlformats.org/drawingml/2006/main" w="0">
            <a:solidFill>
              <a:srgbClr val="19362D"/>
            </a:solidFill>
            <a:prstDash val="solid"/>
          </a:ln>
        </p:spPr>
      </p:sp>
      <p:sp>
        <p:nvSpPr>
          <p:cNvPr id="20" name="">
            <a:extLst xmlns:a="http://schemas.openxmlformats.org/drawingml/2006/main">
              <a:ext uri="{FF2B5EF4-FFF2-40B4-BE49-F238E27FC236}">
                <a16:creationId xmlns:a16="http://schemas.microsoft.com/office/drawing/2014/main" id="{EB86F729-D1BA-4011-A7D3-6989D3366ABE}"/>
              </a:ext>
            </a:extLst>
          </p:cNvPr>
          <p:cNvSpPr>
            <a:spLocks xmlns:a="http://schemas.openxmlformats.org/drawingml/2006/main" noGrp="1"/>
          </p:cNvSpPr>
          <p:nvPr/>
        </p:nvSpPr>
        <p:spPr>
          <a:xfrm xmlns:a="http://schemas.openxmlformats.org/drawingml/2006/main">
            <a:off x="400050" y="56197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i="0">
                <a:solidFill>
                  <a:srgbClr val="6A716D"/>
                </a:solidFill>
                <a:latin typeface="Aptos"/>
                <a:ea typeface="Aptos"/>
                <a:cs typeface="Aptos"/>
              </a:defRPr>
            </a:pPr>
            <a:r>
              <a:rPr sz="1350" b="1" i="0">
                <a:solidFill>
                  <a:srgbClr val="6A716D"/>
                </a:solidFill>
                <a:latin typeface="Aptos"/>
                <a:ea typeface="Aptos"/>
                <a:cs typeface="Aptos"/>
              </a:rPr>
              <a:t>WEEK 2 PROPOSAL</a:t>
            </a:r>
          </a:p>
        </p:txBody>
      </p:sp>
      <p:sp>
        <p:nvSpPr>
          <p:cNvPr id="21" name="">
            <a:extLst xmlns:a="http://schemas.openxmlformats.org/drawingml/2006/main">
              <a:ext uri="{FF2B5EF4-FFF2-40B4-BE49-F238E27FC236}">
                <a16:creationId xmlns:a16="http://schemas.microsoft.com/office/drawing/2014/main" id="{F1AC4598-3FCC-4398-A911-EBF060E0DEB5}"/>
              </a:ext>
            </a:extLst>
          </p:cNvPr>
          <p:cNvSpPr>
            <a:spLocks xmlns:a="http://schemas.openxmlformats.org/drawingml/2006/main" noGrp="1"/>
          </p:cNvSpPr>
          <p:nvPr/>
        </p:nvSpPr>
        <p:spPr>
          <a:xfrm xmlns:a="http://schemas.openxmlformats.org/drawingml/2006/main">
            <a:off x="4314825" y="56197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i="0">
                <a:solidFill>
                  <a:srgbClr val="6A716D"/>
                </a:solidFill>
                <a:latin typeface="Aptos"/>
                <a:ea typeface="Aptos"/>
                <a:cs typeface="Aptos"/>
              </a:defRPr>
            </a:pPr>
            <a:r>
              <a:rPr sz="1350" b="1" i="0">
                <a:solidFill>
                  <a:srgbClr val="6A716D"/>
                </a:solidFill>
                <a:latin typeface="Aptos"/>
                <a:ea typeface="Aptos"/>
                <a:cs typeface="Aptos"/>
              </a:rPr>
              <a:t>15 JULY</a:t>
            </a:r>
          </a:p>
        </p:txBody>
      </p:sp>
      <p:sp>
        <p:nvSpPr>
          <p:cNvPr id="22" name="">
            <a:extLst xmlns:a="http://schemas.openxmlformats.org/drawingml/2006/main">
              <a:ext uri="{FF2B5EF4-FFF2-40B4-BE49-F238E27FC236}">
                <a16:creationId xmlns:a16="http://schemas.microsoft.com/office/drawing/2014/main" id="{D8AA0E3F-6515-4C45-8139-60C4C00430F3}"/>
              </a:ext>
            </a:extLst>
          </p:cNvPr>
          <p:cNvSpPr>
            <a:spLocks xmlns:a="http://schemas.openxmlformats.org/drawingml/2006/main" noGrp="1"/>
          </p:cNvSpPr>
          <p:nvPr/>
        </p:nvSpPr>
        <p:spPr>
          <a:xfrm xmlns:a="http://schemas.openxmlformats.org/drawingml/2006/main">
            <a:off x="8229600" y="56197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i="0">
                <a:solidFill>
                  <a:srgbClr val="6A716D"/>
                </a:solidFill>
                <a:latin typeface="Aptos"/>
                <a:ea typeface="Aptos"/>
                <a:cs typeface="Aptos"/>
              </a:defRPr>
            </a:pPr>
            <a:r>
              <a:rPr sz="1350" b="1" i="0">
                <a:solidFill>
                  <a:srgbClr val="6A716D"/>
                </a:solidFill>
                <a:latin typeface="Aptos"/>
                <a:ea typeface="Aptos"/>
                <a:cs typeface="Aptos"/>
              </a:rPr>
              <a:t>18 JULY</a:t>
            </a:r>
          </a:p>
        </p:txBody>
      </p:sp>
    </p:spTree>
    <p:extLst>
      <p:ext uri="{BB962C8B-B14F-4D97-AF65-F5344CB8AC3E}">
        <p14:creationId xmlns:p14="http://schemas.microsoft.com/office/powerpoint/2010/main" val="1289046449"/>
      </p:ext>
    </p:extLst>
  </p:cSld>
</p:sld>
</file>

<file path=ppt/slides/slide8.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0F8E72A-CFD7-43DF-B814-3F8A07FD37F2}"/>
              </a:ext>
            </a:extLst>
          </p:cNvPr>
          <p:cNvSpPr>
            <a:spLocks xmlns:a="http://schemas.openxmlformats.org/drawingml/2006/main" noGrp="1"/>
          </p:cNvSpPr>
          <p:nvPr/>
        </p:nvSpPr>
        <p:spPr>
          <a:xfrm xmlns:a="http://schemas.openxmlformats.org/drawingml/2006/main">
            <a:off x="400050" y="40005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1" i="0">
                <a:solidFill>
                  <a:srgbClr val="9A461C"/>
                </a:solidFill>
                <a:latin typeface="Aptos"/>
                <a:ea typeface="Aptos"/>
                <a:cs typeface="Aptos"/>
              </a:defRPr>
            </a:pPr>
            <a:r>
              <a:rPr sz="1650" b="1" i="0">
                <a:solidFill>
                  <a:srgbClr val="9A461C"/>
                </a:solidFill>
                <a:latin typeface="Aptos"/>
                <a:ea typeface="Aptos"/>
                <a:cs typeface="Aptos"/>
              </a:rPr>
              <a:t>PROJECT OUTCOME</a:t>
            </a:r>
          </a:p>
        </p:txBody>
      </p:sp>
      <p:sp>
        <p:nvSpPr>
          <p:cNvPr id="2" name="">
            <a:extLst xmlns:a="http://schemas.openxmlformats.org/drawingml/2006/main">
              <a:ext uri="{FF2B5EF4-FFF2-40B4-BE49-F238E27FC236}">
                <a16:creationId xmlns:a16="http://schemas.microsoft.com/office/drawing/2014/main" id="{45BD8142-09F4-4CB1-ADED-8EC284F1C8FF}"/>
              </a:ext>
            </a:extLst>
          </p:cNvPr>
          <p:cNvSpPr>
            <a:spLocks xmlns:a="http://schemas.openxmlformats.org/drawingml/2006/main" noGrp="1"/>
          </p:cNvSpPr>
          <p:nvPr/>
        </p:nvSpPr>
        <p:spPr>
          <a:xfrm xmlns:a="http://schemas.openxmlformats.org/drawingml/2006/main">
            <a:off x="400050" y="1809750"/>
            <a:ext cx="8477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buNone/>
              <a:defRPr sz="5400" b="1" i="0">
                <a:solidFill>
                  <a:srgbClr val="19362D"/>
                </a:solidFill>
                <a:latin typeface="Aptos"/>
                <a:ea typeface="Aptos"/>
                <a:cs typeface="Aptos"/>
              </a:defRPr>
            </a:pPr>
            <a:r>
              <a:rPr sz="5400" b="1" i="0">
                <a:solidFill>
                  <a:srgbClr val="19362D"/>
                </a:solidFill>
                <a:latin typeface="Aptos"/>
                <a:ea typeface="Aptos"/>
                <a:cs typeface="Aptos"/>
              </a:rPr>
              <a:t>From exploit to</a:t>
            </a:r>
          </a:p>
          <a:p xmlns:a="http://schemas.openxmlformats.org/drawingml/2006/main">
            <a:pPr algn="l">
              <a:buNone/>
              <a:defRPr sz="5400" b="1" i="0">
                <a:solidFill>
                  <a:srgbClr val="19362D"/>
                </a:solidFill>
                <a:latin typeface="Aptos"/>
                <a:ea typeface="Aptos"/>
                <a:cs typeface="Aptos"/>
              </a:defRPr>
            </a:pPr>
            <a:r>
              <a:rPr sz="5400" b="1" i="0">
                <a:solidFill>
                  <a:srgbClr val="19362D"/>
                </a:solidFill>
                <a:latin typeface="Aptos"/>
                <a:ea typeface="Aptos"/>
                <a:cs typeface="Aptos"/>
              </a:rPr>
              <a:t>secure design</a:t>
            </a:r>
          </a:p>
        </p:txBody>
      </p:sp>
      <p:sp>
        <p:nvSpPr>
          <p:cNvPr id="3" name="">
            <a:extLst xmlns:a="http://schemas.openxmlformats.org/drawingml/2006/main">
              <a:ext uri="{FF2B5EF4-FFF2-40B4-BE49-F238E27FC236}">
                <a16:creationId xmlns:a16="http://schemas.microsoft.com/office/drawing/2014/main" id="{305554CA-11FF-4BC0-8676-872274C4266A}"/>
              </a:ext>
            </a:extLst>
          </p:cNvPr>
          <p:cNvSpPr>
            <a:spLocks xmlns:a="http://schemas.openxmlformats.org/drawingml/2006/main" noGrp="1"/>
          </p:cNvSpPr>
          <p:nvPr/>
        </p:nvSpPr>
        <p:spPr>
          <a:xfrm xmlns:a="http://schemas.openxmlformats.org/drawingml/2006/main">
            <a:off x="400050" y="4762500"/>
            <a:ext cx="5334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75" b="0" i="0">
                <a:solidFill>
                  <a:srgbClr val="202824"/>
                </a:solidFill>
                <a:latin typeface="Aptos"/>
                <a:ea typeface="Aptos"/>
                <a:cs typeface="Aptos"/>
              </a:defRPr>
            </a:pPr>
            <a:r>
              <a:rPr sz="2175" b="0" i="0">
                <a:solidFill>
                  <a:srgbClr val="202824"/>
                </a:solidFill>
                <a:latin typeface="Aptos"/>
                <a:ea typeface="Aptos"/>
                <a:cs typeface="Aptos"/>
              </a:rPr>
              <a:t>Working educational CTF</a:t>
            </a:r>
          </a:p>
          <a:p xmlns:a="http://schemas.openxmlformats.org/drawingml/2006/main">
            <a:pPr algn="l">
              <a:buNone/>
              <a:defRPr sz="2175" b="0" i="0">
                <a:solidFill>
                  <a:srgbClr val="202824"/>
                </a:solidFill>
                <a:latin typeface="Aptos"/>
                <a:ea typeface="Aptos"/>
                <a:cs typeface="Aptos"/>
              </a:defRPr>
            </a:pPr>
            <a:r>
              <a:rPr sz="2175" b="0" i="0">
                <a:solidFill>
                  <a:srgbClr val="202824"/>
                </a:solidFill>
                <a:latin typeface="Aptos"/>
                <a:ea typeface="Aptos"/>
                <a:cs typeface="Aptos"/>
              </a:rPr>
              <a:t>Attacker + defender analysis</a:t>
            </a:r>
          </a:p>
          <a:p xmlns:a="http://schemas.openxmlformats.org/drawingml/2006/main">
            <a:pPr algn="l">
              <a:buNone/>
              <a:defRPr sz="2175" b="0" i="0">
                <a:solidFill>
                  <a:srgbClr val="202824"/>
                </a:solidFill>
                <a:latin typeface="Aptos"/>
                <a:ea typeface="Aptos"/>
                <a:cs typeface="Aptos"/>
              </a:defRPr>
            </a:pPr>
            <a:r>
              <a:rPr sz="2175" b="0" i="0">
                <a:solidFill>
                  <a:srgbClr val="202824"/>
                </a:solidFill>
                <a:latin typeface="Aptos"/>
                <a:ea typeface="Aptos"/>
                <a:cs typeface="Aptos"/>
              </a:rPr>
              <a:t>Evidence-driven improvement</a:t>
            </a:r>
          </a:p>
        </p:txBody>
      </p:sp>
      <p:sp>
        <p:nvSpPr>
          <p:cNvPr id="4" name="">
            <a:extLst xmlns:a="http://schemas.openxmlformats.org/drawingml/2006/main">
              <a:ext uri="{FF2B5EF4-FFF2-40B4-BE49-F238E27FC236}">
                <a16:creationId xmlns:a16="http://schemas.microsoft.com/office/drawing/2014/main" id="{063850F7-3B3C-4517-B027-34F9B41C65A7}"/>
              </a:ext>
            </a:extLst>
          </p:cNvPr>
          <p:cNvSpPr>
            <a:spLocks xmlns:a="http://schemas.openxmlformats.org/drawingml/2006/main" noGrp="1"/>
          </p:cNvSpPr>
          <p:nvPr/>
        </p:nvSpPr>
        <p:spPr>
          <a:xfrm xmlns:a="http://schemas.openxmlformats.org/drawingml/2006/main">
            <a:off x="7543800" y="4495800"/>
            <a:ext cx="4095750" cy="1352550"/>
          </a:xfrm>
          <a:prstGeom xmlns:a="http://schemas.openxmlformats.org/drawingml/2006/main" prst="roundRect">
            <a:avLst>
              <a:gd name="adj" fmla="val 11268"/>
            </a:avLst>
          </a:prstGeom>
          <a:solidFill xmlns:a="http://schemas.openxmlformats.org/drawingml/2006/main">
            <a:srgbClr val="E8EEE9"/>
          </a:solidFill>
          <a:ln xmlns:a="http://schemas.openxmlformats.org/drawingml/2006/main" w="9525">
            <a:solidFill>
              <a:srgbClr val="C7D2CA"/>
            </a:solidFill>
            <a:prstDash val="solid"/>
          </a:ln>
        </p:spPr>
      </p:sp>
      <p:sp>
        <p:nvSpPr>
          <p:cNvPr id="5" name="">
            <a:extLst xmlns:a="http://schemas.openxmlformats.org/drawingml/2006/main">
              <a:ext uri="{FF2B5EF4-FFF2-40B4-BE49-F238E27FC236}">
                <a16:creationId xmlns:a16="http://schemas.microsoft.com/office/drawing/2014/main" id="{F9FAFC5D-BE9B-49FC-A822-2971793229BC}"/>
              </a:ext>
            </a:extLst>
          </p:cNvPr>
          <p:cNvSpPr>
            <a:spLocks xmlns:a="http://schemas.openxmlformats.org/drawingml/2006/main" noGrp="1"/>
          </p:cNvSpPr>
          <p:nvPr/>
        </p:nvSpPr>
        <p:spPr>
          <a:xfrm xmlns:a="http://schemas.openxmlformats.org/drawingml/2006/main">
            <a:off x="7829550" y="4781550"/>
            <a:ext cx="3524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1" i="0">
                <a:solidFill>
                  <a:srgbClr val="19362D"/>
                </a:solidFill>
                <a:latin typeface="Aptos"/>
                <a:ea typeface="Aptos"/>
                <a:cs typeface="Aptos"/>
              </a:defRPr>
            </a:pPr>
            <a:r>
              <a:rPr sz="1500" b="1" i="0">
                <a:solidFill>
                  <a:srgbClr val="19362D"/>
                </a:solidFill>
                <a:latin typeface="Aptos"/>
                <a:ea typeface="Aptos"/>
                <a:cs typeface="Aptos"/>
              </a:rPr>
              <a:t>Scope boundary</a:t>
            </a:r>
          </a:p>
          <a:p xmlns:a="http://schemas.openxmlformats.org/drawingml/2006/main">
            <a:pPr algn="l">
              <a:buNone/>
              <a:defRPr sz="1500" b="1" i="0">
                <a:solidFill>
                  <a:srgbClr val="19362D"/>
                </a:solidFill>
                <a:latin typeface="Aptos"/>
                <a:ea typeface="Aptos"/>
                <a:cs typeface="Aptos"/>
              </a:defRPr>
            </a:pPr>
            <a:r>
              <a:rPr sz="1500" b="1" i="0">
                <a:solidFill>
                  <a:srgbClr val="19362D"/>
                </a:solidFill>
                <a:latin typeface="Aptos"/>
                <a:ea typeface="Aptos"/>
                <a:cs typeface="Aptos"/>
              </a:rPr>
              <a:t>Local demonstration • intentionally vulnerable routes • not production-ready</a:t>
            </a:r>
          </a:p>
        </p:txBody>
      </p:sp>
      <p:sp>
        <p:nvSpPr>
          <p:cNvPr id="6" name="">
            <a:extLst xmlns:a="http://schemas.openxmlformats.org/drawingml/2006/main">
              <a:ext uri="{FF2B5EF4-FFF2-40B4-BE49-F238E27FC236}">
                <a16:creationId xmlns:a16="http://schemas.microsoft.com/office/drawing/2014/main" id="{304D1162-889F-4B33-9B51-AE04A207D5C3}"/>
              </a:ext>
            </a:extLst>
          </p:cNvPr>
          <p:cNvSpPr>
            <a:spLocks xmlns:a="http://schemas.openxmlformats.org/drawingml/2006/main" noGrp="1"/>
          </p:cNvSpPr>
          <p:nvPr/>
        </p:nvSpPr>
        <p:spPr>
          <a:xfrm xmlns:a="http://schemas.openxmlformats.org/drawingml/2006/main">
            <a:off x="9810750" y="400050"/>
            <a:ext cx="180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buNone/>
              <a:defRPr sz="1650" b="1" i="0">
                <a:solidFill>
                  <a:srgbClr val="19362D"/>
                </a:solidFill>
                <a:latin typeface="Aptos"/>
                <a:ea typeface="Aptos"/>
                <a:cs typeface="Aptos"/>
              </a:defRPr>
            </a:pPr>
            <a:r>
              <a:rPr sz="1650" b="1" i="0">
                <a:solidFill>
                  <a:srgbClr val="19362D"/>
                </a:solidFill>
                <a:latin typeface="Aptos"/>
                <a:ea typeface="Aptos"/>
                <a:cs typeface="Aptos"/>
              </a:rPr>
              <a:t>Questions</a:t>
            </a:r>
          </a:p>
        </p:txBody>
      </p:sp>
    </p:spTree>
    <p:extLst>
      <p:ext uri="{BB962C8B-B14F-4D97-AF65-F5344CB8AC3E}">
        <p14:creationId xmlns:p14="http://schemas.microsoft.com/office/powerpoint/2010/main" val="2016579978"/>
      </p:ext>
    </p:extLst>
  </p:cSld>
</p:sld>
</file>

<file path=ppt/theme/theme1.xml><?xml version="1.0" encoding="utf-8"?>
<a:theme xmlns:a="http://schemas.openxmlformats.org/drawingml/2006/main" name="COMP6441 Theme">
  <a:themeElements>
    <a:clrScheme name="COMP6441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OMP6441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2026-07-19T09:57:53.6420000Z</dcterms:created>
  <dcterms:modified xsi:type="dcterms:W3CDTF">2026-07-19T09:57:53.6420000Z</dcterms:modified>
</coreProperties>
</file>